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adout" id="{883c569c-af48-e433-fe1c-53e49c1ae34c}">
          <p14:sldIdLst>
            <p14:sldId id="256"/>
            <p14:sldId id="257"/>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202B"/>
                </a:solidFill>
                <a:latin typeface="+mn-lt"/>
              </a:defRPr>
            </a:pPr>
            <a:r>
              <a:rPr sz="1400" b="0" i="0" u="none" strike="noStrike">
                <a:solidFill>
                  <a:srgbClr val="15202B"/>
                </a:solidFill>
                <a:latin typeface="+mn-lt"/>
              </a:rPr>
              <a:t>Pipeline created per $1 of event cost</a:t>
            </a:r>
          </a:p>
        </c:rich>
      </c:tx>
      <c:layout/>
      <c:overlay val="0"/>
    </c:title>
    <c:autoTitleDeleted val="0"/>
    <c:plotArea>
      <c:layout/>
      <c:barChart>
        <c:barDir val="col"/>
        <c:grouping val="clustered"/>
        <c:varyColors val="0"/>
        <c:ser>
          <c:idx val="0"/>
          <c:order val="0"/>
          <c:tx>
            <c:strRef>
              <c:f>Sheet1!$B$1</c:f>
              <c:strCache>
                <c:ptCount val="1"/>
                <c:pt idx="0">
                  <c:v>Pipeline per $1</c:v>
                </c:pt>
              </c:strCache>
            </c:strRef>
          </c:tx>
          <c:spPr>
            <a:solidFill>
              <a:srgbClr val="2F6DB5"/>
            </a:solidFill>
            <a:effectLst/>
          </c:spPr>
          <c:invertIfNegative val="0"/>
          <c:dLbls>
            <c:numFmt formatCode="$#,##0" sourceLinked="0"/>
            <c:txPr>
              <a:bodyPr/>
              <a:lstStyle/>
              <a:p>
                <a:pPr>
                  <a:defRPr b="0" i="0" strike="noStrike" sz="1200" u="none">
                    <a:solidFill>
                      <a:srgbClr val="15202B"/>
                    </a:solidFill>
                    <a:latin typeface="+mn-lt"/>
                  </a:defRPr>
                </a:pPr>
              </a:p>
            </c:txPr>
            <c:showLegendKey val="0"/>
            <c:showVal val="1"/>
            <c:showCatName val="0"/>
            <c:showSerName val="0"/>
            <c:showPercent val="0"/>
            <c:showBubbleSize val="0"/>
            <c:showLeaderLines val="0"/>
          </c:dLbls>
          <c:dPt>
            <c:idx val="0"/>
            <c:invertIfNegative val="0"/>
            <c:bubble3D val="0"/>
            <c:spPr>
              <a:solidFill>
                <a:srgbClr val="2F6DB5"/>
              </a:solidFill>
              <a:effectLst/>
            </c:spPr>
          </c:dPt>
          <c:dPt>
            <c:idx val="1"/>
            <c:invertIfNegative val="0"/>
            <c:bubble3D val="0"/>
            <c:spPr>
              <a:solidFill>
                <a:srgbClr val="B8761A"/>
              </a:solidFill>
              <a:effectLst/>
            </c:spPr>
          </c:dPt>
          <c:dPt>
            <c:idx val="2"/>
            <c:invertIfNegative val="0"/>
            <c:bubble3D val="0"/>
            <c:spPr>
              <a:solidFill>
                <a:srgbClr val="25897A"/>
              </a:solidFill>
              <a:effectLst/>
            </c:spPr>
          </c:dPt>
          <c:cat>
            <c:multiLvlStrRef>
              <c:f>Sheet1!$A$2:$A$4</c:f>
              <c:multiLvlStrCache>
                <c:ptCount val="3"/>
                <c:lvl>
                  <c:pt idx="0">
                    <c:v>New York</c:v>
                  </c:pt>
                  <c:pt idx="1">
                    <c:v>London</c:v>
                  </c:pt>
                  <c:pt idx="2">
                    <c:v>Berlin</c:v>
                  </c:pt>
                </c:lvl>
              </c:multiLvlStrCache>
            </c:multiLvlStrRef>
          </c:cat>
          <c:val>
            <c:numRef>
              <c:f>Sheet1!$B$2:$B$4</c:f>
              <c:numCache>
                <c:formatCode>General</c:formatCode>
                <c:ptCount val="3"/>
                <c:pt idx="0">
                  <c:v>2117</c:v>
                </c:pt>
                <c:pt idx="1">
                  <c:v>2173</c:v>
                </c:pt>
                <c:pt idx="2">
                  <c:v>523</c:v>
                </c:pt>
              </c:numCache>
            </c:numRef>
          </c:val>
        </c:ser>
        <c:dLbls>
          <c:numFmt formatCode="$#,##0" sourceLinked="0"/>
          <c:txPr>
            <a:bodyPr/>
            <a:lstStyle/>
            <a:p>
              <a:pPr>
                <a:defRPr b="0" i="0" strike="noStrike" sz="1200" u="none">
                  <a:solidFill>
                    <a:srgbClr val="15202B"/>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A6776"/>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9525" cap="flat">
              <a:solidFill>
                <a:srgbClr val="D9DFE6"/>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A677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202B"/>
                </a:solidFill>
                <a:latin typeface="+mn-lt"/>
              </a:defRPr>
            </a:pPr>
            <a:r>
              <a:rPr sz="1400" b="0" i="0" u="none" strike="noStrike">
                <a:solidFill>
                  <a:srgbClr val="15202B"/>
                </a:solidFill>
                <a:latin typeface="+mn-lt"/>
              </a:rPr>
              <a:t>Share of firms opening an opportunity within 90 days</a:t>
            </a:r>
          </a:p>
        </c:rich>
      </c:tx>
      <c:layout/>
      <c:overlay val="0"/>
    </c:title>
    <c:autoTitleDeleted val="0"/>
    <c:plotArea>
      <c:layout/>
      <c:barChart>
        <c:barDir val="col"/>
        <c:grouping val="clustered"/>
        <c:varyColors val="0"/>
        <c:ser>
          <c:idx val="0"/>
          <c:order val="0"/>
          <c:tx>
            <c:strRef>
              <c:f>Sheet1!$B$1</c:f>
              <c:strCache>
                <c:ptCount val="1"/>
                <c:pt idx="0">
                  <c:v>Attending firms</c:v>
                </c:pt>
              </c:strCache>
            </c:strRef>
          </c:tx>
          <c:spPr>
            <a:solidFill>
              <a:srgbClr val="1D4F7A"/>
            </a:solidFill>
            <a:effectLst/>
          </c:spPr>
          <c:invertIfNegative val="0"/>
          <c:dLbls>
            <c:numFmt formatCode="0&quot;%&quot;" sourceLinked="0"/>
            <c:txPr>
              <a:bodyPr/>
              <a:lstStyle/>
              <a:p>
                <a:pPr>
                  <a:defRPr b="0" i="0" strike="noStrike" sz="1200" u="none">
                    <a:solidFill>
                      <a:srgbClr val="15202B"/>
                    </a:solidFill>
                    <a:latin typeface="+mn-lt"/>
                  </a:defRPr>
                </a:pPr>
              </a:p>
            </c:txPr>
            <c:showLegendKey val="0"/>
            <c:showVal val="1"/>
            <c:showCatName val="0"/>
            <c:showSerName val="0"/>
            <c:showPercent val="0"/>
            <c:showBubbleSize val="0"/>
            <c:showLeaderLines val="0"/>
          </c:dLbls>
          <c:cat>
            <c:multiLvlStrRef>
              <c:f>Sheet1!$A$2:$A$4</c:f>
              <c:multiLvlStrCache>
                <c:ptCount val="3"/>
                <c:lvl>
                  <c:pt idx="0">
                    <c:v>New York</c:v>
                  </c:pt>
                  <c:pt idx="1">
                    <c:v>London</c:v>
                  </c:pt>
                  <c:pt idx="2">
                    <c:v>Berlin</c:v>
                  </c:pt>
                </c:lvl>
              </c:multiLvlStrCache>
            </c:multiLvlStrRef>
          </c:cat>
          <c:val>
            <c:numRef>
              <c:f>Sheet1!$B$2:$B$4</c:f>
              <c:numCache>
                <c:formatCode>General</c:formatCode>
                <c:ptCount val="3"/>
                <c:pt idx="0">
                  <c:v>42</c:v>
                </c:pt>
                <c:pt idx="1">
                  <c:v>40</c:v>
                </c:pt>
                <c:pt idx="2">
                  <c:v>32</c:v>
                </c:pt>
              </c:numCache>
            </c:numRef>
          </c:val>
        </c:ser>
        <c:ser>
          <c:idx val="1"/>
          <c:order val="1"/>
          <c:tx>
            <c:strRef>
              <c:f>Sheet1!$C$1</c:f>
              <c:strCache>
                <c:ptCount val="1"/>
                <c:pt idx="0">
                  <c:v>Firms at no event</c:v>
                </c:pt>
              </c:strCache>
            </c:strRef>
          </c:tx>
          <c:spPr>
            <a:solidFill>
              <a:srgbClr val="8A96A3"/>
            </a:solidFill>
            <a:effectLst/>
          </c:spPr>
          <c:invertIfNegative val="0"/>
          <c:dLbls>
            <c:numFmt formatCode="0&quot;%&quot;" sourceLinked="0"/>
            <c:txPr>
              <a:bodyPr/>
              <a:lstStyle/>
              <a:p>
                <a:pPr>
                  <a:defRPr b="0" i="0" strike="noStrike" sz="1200" u="none">
                    <a:solidFill>
                      <a:srgbClr val="15202B"/>
                    </a:solidFill>
                    <a:latin typeface="+mn-lt"/>
                  </a:defRPr>
                </a:pPr>
              </a:p>
            </c:txPr>
            <c:showLegendKey val="0"/>
            <c:showVal val="1"/>
            <c:showCatName val="0"/>
            <c:showSerName val="0"/>
            <c:showPercent val="0"/>
            <c:showBubbleSize val="0"/>
            <c:showLeaderLines val="0"/>
          </c:dLbls>
          <c:cat>
            <c:multiLvlStrRef>
              <c:f>Sheet1!$A$2:$A$4</c:f>
              <c:multiLvlStrCache>
                <c:ptCount val="3"/>
                <c:lvl>
                  <c:pt idx="0">
                    <c:v>New York</c:v>
                  </c:pt>
                  <c:pt idx="1">
                    <c:v>London</c:v>
                  </c:pt>
                  <c:pt idx="2">
                    <c:v>Berlin</c:v>
                  </c:pt>
                </c:lvl>
              </c:multiLvlStrCache>
            </c:multiLvlStrRef>
          </c:cat>
          <c:val>
            <c:numRef>
              <c:f>Sheet1!$C$2:$C$4</c:f>
              <c:numCache>
                <c:formatCode>General</c:formatCode>
                <c:ptCount val="3"/>
                <c:pt idx="0">
                  <c:v>70</c:v>
                </c:pt>
                <c:pt idx="1">
                  <c:v>60</c:v>
                </c:pt>
                <c:pt idx="2">
                  <c:v>50</c:v>
                </c:pt>
              </c:numCache>
            </c:numRef>
          </c:val>
        </c:ser>
        <c:dLbls>
          <c:numFmt formatCode="0&quot;%&quot;" sourceLinked="0"/>
          <c:txPr>
            <a:bodyPr/>
            <a:lstStyle/>
            <a:p>
              <a:pPr>
                <a:defRPr b="0" i="0" strike="noStrike" sz="1200" u="none">
                  <a:solidFill>
                    <a:srgbClr val="1520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A6776"/>
                </a:solidFill>
                <a:latin typeface="+mn-lt"/>
              </a:defRPr>
            </a:pPr>
            <a:endParaRPr lang="en-US"/>
          </a:p>
        </c:txPr>
        <c:crossAx val="2094734552"/>
        <c:crosses val="autoZero"/>
        <c:auto val="1"/>
        <c:lblAlgn val="ctr"/>
        <c:noMultiLvlLbl val="1"/>
      </c:catAx>
      <c:valAx>
        <c:axId val="2094734552"/>
        <c:scaling>
          <c:orientation val="minMax"/>
          <c:max val="100"/>
        </c:scaling>
        <c:delete val="1"/>
        <c:axPos val="l"/>
        <c:majorGridlines>
          <c:spPr>
            <a:ln w="9525" cap="flat">
              <a:solidFill>
                <a:srgbClr val="D9DF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A677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A677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202B"/>
                </a:solidFill>
                <a:latin typeface="+mn-lt"/>
              </a:defRPr>
            </a:pPr>
            <a:r>
              <a:rPr sz="1400" b="0" i="0" u="none" strike="noStrike">
                <a:solidFill>
                  <a:srgbClr val="15202B"/>
                </a:solidFill>
                <a:latin typeface="+mn-lt"/>
              </a:rPr>
              <a:t>Meetings with attending firms, before vs after</a:t>
            </a:r>
          </a:p>
        </c:rich>
      </c:tx>
      <c:layout/>
      <c:overlay val="0"/>
    </c:title>
    <c:autoTitleDeleted val="0"/>
    <c:plotArea>
      <c:layout/>
      <c:barChart>
        <c:barDir val="col"/>
        <c:grouping val="clustered"/>
        <c:varyColors val="0"/>
        <c:ser>
          <c:idx val="0"/>
          <c:order val="0"/>
          <c:tx>
            <c:strRef>
              <c:f>Sheet1!$B$1</c:f>
              <c:strCache>
                <c:ptCount val="1"/>
                <c:pt idx="0">
                  <c:v>90 days before</c:v>
                </c:pt>
              </c:strCache>
            </c:strRef>
          </c:tx>
          <c:spPr>
            <a:solidFill>
              <a:srgbClr val="8A96A3"/>
            </a:solidFill>
            <a:effectLst/>
          </c:spPr>
          <c:invertIfNegative val="0"/>
          <c:dLbls>
            <c:numFmt formatCode="#,##0" sourceLinked="0"/>
            <c:txPr>
              <a:bodyPr/>
              <a:lstStyle/>
              <a:p>
                <a:pPr>
                  <a:defRPr b="0" i="0" strike="noStrike" sz="1200" u="none">
                    <a:solidFill>
                      <a:srgbClr val="15202B"/>
                    </a:solidFill>
                    <a:latin typeface="+mn-lt"/>
                  </a:defRPr>
                </a:pPr>
              </a:p>
            </c:txPr>
            <c:showLegendKey val="0"/>
            <c:showVal val="1"/>
            <c:showCatName val="0"/>
            <c:showSerName val="0"/>
            <c:showPercent val="0"/>
            <c:showBubbleSize val="0"/>
            <c:showLeaderLines val="0"/>
          </c:dLbls>
          <c:cat>
            <c:multiLvlStrRef>
              <c:f>Sheet1!$A$2:$A$4</c:f>
              <c:multiLvlStrCache>
                <c:ptCount val="3"/>
                <c:lvl>
                  <c:pt idx="0">
                    <c:v>New York</c:v>
                  </c:pt>
                  <c:pt idx="1">
                    <c:v>London</c:v>
                  </c:pt>
                  <c:pt idx="2">
                    <c:v>Berlin</c:v>
                  </c:pt>
                </c:lvl>
              </c:multiLvlStrCache>
            </c:multiLvlStrRef>
          </c:cat>
          <c:val>
            <c:numRef>
              <c:f>Sheet1!$B$2:$B$4</c:f>
              <c:numCache>
                <c:formatCode>General</c:formatCode>
                <c:ptCount val="3"/>
                <c:pt idx="0">
                  <c:v>14</c:v>
                </c:pt>
                <c:pt idx="1">
                  <c:v>20</c:v>
                </c:pt>
                <c:pt idx="2">
                  <c:v>23</c:v>
                </c:pt>
              </c:numCache>
            </c:numRef>
          </c:val>
        </c:ser>
        <c:ser>
          <c:idx val="1"/>
          <c:order val="1"/>
          <c:tx>
            <c:strRef>
              <c:f>Sheet1!$C$1</c:f>
              <c:strCache>
                <c:ptCount val="1"/>
                <c:pt idx="0">
                  <c:v>90 days after</c:v>
                </c:pt>
              </c:strCache>
            </c:strRef>
          </c:tx>
          <c:spPr>
            <a:solidFill>
              <a:srgbClr val="1D4F7A"/>
            </a:solidFill>
            <a:effectLst/>
          </c:spPr>
          <c:invertIfNegative val="0"/>
          <c:dLbls>
            <c:numFmt formatCode="#,##0" sourceLinked="0"/>
            <c:txPr>
              <a:bodyPr/>
              <a:lstStyle/>
              <a:p>
                <a:pPr>
                  <a:defRPr b="0" i="0" strike="noStrike" sz="1200" u="none">
                    <a:solidFill>
                      <a:srgbClr val="15202B"/>
                    </a:solidFill>
                    <a:latin typeface="+mn-lt"/>
                  </a:defRPr>
                </a:pPr>
              </a:p>
            </c:txPr>
            <c:showLegendKey val="0"/>
            <c:showVal val="1"/>
            <c:showCatName val="0"/>
            <c:showSerName val="0"/>
            <c:showPercent val="0"/>
            <c:showBubbleSize val="0"/>
            <c:showLeaderLines val="0"/>
          </c:dLbls>
          <c:cat>
            <c:multiLvlStrRef>
              <c:f>Sheet1!$A$2:$A$4</c:f>
              <c:multiLvlStrCache>
                <c:ptCount val="3"/>
                <c:lvl>
                  <c:pt idx="0">
                    <c:v>New York</c:v>
                  </c:pt>
                  <c:pt idx="1">
                    <c:v>London</c:v>
                  </c:pt>
                  <c:pt idx="2">
                    <c:v>Berlin</c:v>
                  </c:pt>
                </c:lvl>
              </c:multiLvlStrCache>
            </c:multiLvlStrRef>
          </c:cat>
          <c:val>
            <c:numRef>
              <c:f>Sheet1!$C$2:$C$4</c:f>
              <c:numCache>
                <c:formatCode>General</c:formatCode>
                <c:ptCount val="3"/>
                <c:pt idx="0">
                  <c:v>37</c:v>
                </c:pt>
                <c:pt idx="1">
                  <c:v>35</c:v>
                </c:pt>
                <c:pt idx="2">
                  <c:v>15</c:v>
                </c:pt>
              </c:numCache>
            </c:numRef>
          </c:val>
        </c:ser>
        <c:dLbls>
          <c:numFmt formatCode="#,##0" sourceLinked="0"/>
          <c:txPr>
            <a:bodyPr/>
            <a:lstStyle/>
            <a:p>
              <a:pPr>
                <a:defRPr b="0" i="0" strike="noStrike" sz="1200" u="none">
                  <a:solidFill>
                    <a:srgbClr val="1520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A6776"/>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9525" cap="flat">
              <a:solidFill>
                <a:srgbClr val="D9DF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A677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A6776"/>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$1.2M across 3 events sits alongside $1.51B of new pipeline from attending firms within 90 days, $1,240 per dollar. London (Investor Leadership Dinner) was the most efficient at $2,173 per $1 and $7K per attending firm. Berlin was the least efficient at $523 per $1 and $32K per firm. Only 17% has committed so far, so treat pipeline as a leading indicator.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London returned the most pipeline per dollar. The Investor Leadership Dinner (hospitality) is associated with $2,173 of new pipeline per $1, at $7K per attending firm. Berlin returned $523 per $1 at $32K per firm.
Follow-up fell after Berlin. Meetings rose after New York (14 to 37) and London (20 to 35). They fell after Berlin (23 to 15), and 42% of Berlin's attending firms had no follow-up meeting within 90 days.
We can't yet say the events caused this pipeline. Firms that attended no event opened opportunities more often (60% vs 39% for attendees). Those 10 firms have 0 logged meetings but 24 opportunities, so meeting records look incomplete. New York's figure also keeps rising at longer windows ($2,117 at 90 days, $4,077 at 180), which suggests activity unrelated to the event.
How to read this: How to read this: an opportunity counts for an event when a firm that attended opens it within 90 days. Firms are invited because they are already engaged, so these figures show what happened alongside the events, not what the events caused. Three events is a small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Run the hosted-dinner format again, as a test. Hold a second one in another region and track a matched set of firms that were not invited, so the next review can see whether the event made a difference.
2. Review Berlin before renewing. It cost $610K and 42% of attending firms had no follow-up. Set a two-week follow-up target for every attending firm.
3. Record events so they can be measured. Tag each meeting and opportunity with the event that sourced it, confirm who actually attended, and remove duplicate records.
The three targets turn the next review from association into something closer to attribution.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eadout 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r>
              <a:rPr lang="en-US" sz="3200" b="1" dirty="0">
                <a:solidFill>
                  <a:schemeClr val="tx1"/>
                </a:solidFill>
              </a:rPr>
              <a:t>Slide title</a:t>
            </a:r>
            <a:endParaRPr lang="en-US" sz="3200" dirty="0"/>
          </a:p>
        </p:txBody>
      </p:sp>
      <p:sp>
        <p:nvSpPr>
          <p:cNvPr id="3" name="Text 0"/>
          <p:cNvSpPr/>
          <p:nvPr>
            <p:ph idx="101" type="body" hasCustomPrompt="1"/>
          </p:nvPr>
        </p:nvSpPr>
        <p:spPr>
          <a:xfrm>
            <a:off x="548640" y="1143000"/>
            <a:ext cx="11091672" cy="548640"/>
          </a:xfrm>
          <a:prstGeom prst="rect">
            <a:avLst/>
          </a:prstGeom>
          <a:noFill/>
          <a:ln/>
        </p:spPr>
        <p:txBody>
          <a:bodyPr wrap="square" rtlCol="0"/>
          <a:lstStyle>
            <a:lvl1pPr algn="l" indent="0" marL="0">
              <a:buNone/>
              <a:defRPr lang="en-US" sz="1600" dirty="0">
                <a:solidFill>
                  <a:schemeClr val="tx2"/>
                </a:solidFill>
              </a:defRPr>
            </a:lvl1pPr>
          </a:lstStyle>
          <a:p>
            <a:pPr algn="l" indent="0" marL="0">
              <a:buNone/>
            </a:pPr>
            <a:r>
              <a:rPr lang="en-US" sz="1600" dirty="0">
                <a:solidFill>
                  <a:schemeClr val="tx2"/>
                </a:solidFill>
              </a:rPr>
              <a:t>Lead sentence</a:t>
            </a:r>
            <a:endParaRPr lang="en-US" sz="1600" dirty="0"/>
          </a:p>
        </p:txBody>
      </p:sp>
      <p:sp>
        <p:nvSpPr>
          <p:cNvPr id="4" name="Text 0"/>
          <p:cNvSpPr txBox="1"/>
          <p:nvPr/>
        </p:nvSpPr>
        <p:spPr>
          <a:xfrm>
            <a:off x="548640" y="6400800"/>
            <a:ext cx="9601200" cy="274320"/>
          </a:xfrm>
          <a:prstGeom prst="rect">
            <a:avLst/>
          </a:prstGeom>
          <a:noFill/>
          <a:ln/>
        </p:spPr>
        <p:txBody>
          <a:bodyPr wrap="square" lIns="0" tIns="0" rIns="0" bIns="0" rtlCol="0" anchor="ctr"/>
          <a:lstStyle/>
          <a:p>
            <a:pPr indent="0" marL="0">
              <a:buNone/>
            </a:pPr>
            <a:r>
              <a:rPr lang="en-US" sz="1000" dirty="0">
                <a:solidFill>
                  <a:srgbClr val="5A6776"/>
                </a:solidFill>
              </a:rPr>
              <a:t>IR executive readout · 90-day window · Confirmed attendees · data as of 26 Oct 2026 · synthetic data</a:t>
            </a:r>
            <a:endParaRPr lang="en-US" sz="10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776"/>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77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b"/>
          <a:lstStyle/>
          <a:p>
            <a:pPr algn="l" indent="0" marL="0">
              <a:buNone/>
            </a:pPr>
            <a:r>
              <a:rPr lang="en-US" sz="3200" b="1" dirty="0">
                <a:solidFill>
                  <a:schemeClr val="tx1"/>
                </a:solidFill>
              </a:rPr>
              <a:t>London's dinner returned the most pipeline per dollar</a:t>
            </a:r>
            <a:endParaRPr lang="en-US" sz="3200" dirty="0"/>
          </a:p>
        </p:txBody>
      </p:sp>
      <p:sp>
        <p:nvSpPr>
          <p:cNvPr id="3" name="Text 0"/>
          <p:cNvSpPr/>
          <p:nvPr>
            <p:ph idx="101" type="body" hasCustomPrompt="1"/>
          </p:nvPr>
        </p:nvSpPr>
        <p:spPr>
          <a:xfrm>
            <a:off x="548640" y="1143000"/>
            <a:ext cx="11091672" cy="548640"/>
          </a:xfrm>
          <a:prstGeom prst="rect">
            <a:avLst/>
          </a:prstGeom>
          <a:noFill/>
          <a:ln/>
        </p:spPr>
        <p:txBody>
          <a:bodyPr wrap="square" lIns="0" tIns="0" rIns="0" bIns="0" rtlCol="0" anchor="t"/>
          <a:lstStyle/>
          <a:p>
            <a:pPr algn="l" indent="0" marL="0">
              <a:buNone/>
            </a:pPr>
            <a:r>
              <a:rPr lang="en-US" sz="1600" dirty="0">
                <a:solidFill>
                  <a:schemeClr val="tx2"/>
                </a:solidFill>
              </a:rPr>
              <a:t>$1.2M of event spend sits alongside $1.51B of new pipeline from attending firms. London was the most efficient event and Berlin the least. The data shows association, not cause.</a:t>
            </a:r>
            <a:endParaRPr lang="en-US" sz="1600" dirty="0"/>
          </a:p>
        </p:txBody>
      </p:sp>
      <p:sp>
        <p:nvSpPr>
          <p:cNvPr id="4" name="KPI card 1"/>
          <p:cNvSpPr/>
          <p:nvPr/>
        </p:nvSpPr>
        <p:spPr>
          <a:xfrm>
            <a:off x="548640" y="1874520"/>
            <a:ext cx="2587752" cy="1188720"/>
          </a:xfrm>
          <a:prstGeom prst="roundRect">
            <a:avLst>
              <a:gd name="adj" fmla="val 6154"/>
            </a:avLst>
          </a:prstGeom>
          <a:solidFill>
            <a:schemeClr val="bg2"/>
          </a:solidFill>
          <a:ln w="12700">
            <a:solidFill>
              <a:schemeClr val="bg2"/>
            </a:solidFill>
            <a:prstDash val="solid"/>
          </a:ln>
        </p:spPr>
      </p:sp>
      <p:sp>
        <p:nvSpPr>
          <p:cNvPr id="5" name="KPI label 1"/>
          <p:cNvSpPr txBox="1"/>
          <p:nvPr/>
        </p:nvSpPr>
        <p:spPr>
          <a:xfrm>
            <a:off x="731520" y="1965960"/>
            <a:ext cx="2240280" cy="274320"/>
          </a:xfrm>
          <a:prstGeom prst="rect">
            <a:avLst/>
          </a:prstGeom>
          <a:noFill/>
          <a:ln/>
        </p:spPr>
        <p:txBody>
          <a:bodyPr wrap="square" lIns="0" tIns="0" rIns="0" bIns="0" rtlCol="0" anchor="ctr"/>
          <a:lstStyle/>
          <a:p>
            <a:pPr indent="0" marL="0">
              <a:buNone/>
            </a:pPr>
            <a:r>
              <a:rPr lang="en-US" sz="1100" b="1" spc="100" kern="0" dirty="0">
                <a:solidFill>
                  <a:schemeClr val="tx2"/>
                </a:solidFill>
              </a:rPr>
              <a:t>TOTAL EVENT SPEND</a:t>
            </a:r>
            <a:endParaRPr lang="en-US" sz="1100" dirty="0"/>
          </a:p>
        </p:txBody>
      </p:sp>
      <p:sp>
        <p:nvSpPr>
          <p:cNvPr id="6" name="KPI value 1"/>
          <p:cNvSpPr txBox="1"/>
          <p:nvPr/>
        </p:nvSpPr>
        <p:spPr>
          <a:xfrm>
            <a:off x="731520" y="2221992"/>
            <a:ext cx="2240280" cy="502920"/>
          </a:xfrm>
          <a:prstGeom prst="rect">
            <a:avLst/>
          </a:prstGeom>
          <a:noFill/>
          <a:ln/>
        </p:spPr>
        <p:txBody>
          <a:bodyPr wrap="square" lIns="0" tIns="0" rIns="0" bIns="0" rtlCol="0" anchor="ctr"/>
          <a:lstStyle/>
          <a:p>
            <a:pPr indent="0" marL="0">
              <a:buNone/>
            </a:pPr>
            <a:r>
              <a:rPr lang="en-US" sz="3000" b="1" dirty="0">
                <a:solidFill>
                  <a:schemeClr val="tx1"/>
                </a:solidFill>
              </a:rPr>
              <a:t>$1.2M</a:t>
            </a:r>
            <a:endParaRPr lang="en-US" sz="3000" dirty="0"/>
          </a:p>
        </p:txBody>
      </p:sp>
      <p:sp>
        <p:nvSpPr>
          <p:cNvPr id="7" name="KPI detail 1"/>
          <p:cNvSpPr txBox="1"/>
          <p:nvPr/>
        </p:nvSpPr>
        <p:spPr>
          <a:xfrm>
            <a:off x="731520" y="2724912"/>
            <a:ext cx="2240280" cy="274320"/>
          </a:xfrm>
          <a:prstGeom prst="rect">
            <a:avLst/>
          </a:prstGeom>
          <a:noFill/>
          <a:ln/>
        </p:spPr>
        <p:txBody>
          <a:bodyPr wrap="square" lIns="0" tIns="0" rIns="0" bIns="0" rtlCol="0" anchor="ctr"/>
          <a:lstStyle/>
          <a:p>
            <a:pPr indent="0" marL="0">
              <a:buNone/>
            </a:pPr>
            <a:r>
              <a:rPr lang="en-US" sz="1100" dirty="0">
                <a:solidFill>
                  <a:srgbClr val="5A6776"/>
                </a:solidFill>
              </a:rPr>
              <a:t>3 events · 47 attending firms</a:t>
            </a:r>
            <a:endParaRPr lang="en-US" sz="1100" dirty="0"/>
          </a:p>
        </p:txBody>
      </p:sp>
      <p:sp>
        <p:nvSpPr>
          <p:cNvPr id="8" name="KPI card 2"/>
          <p:cNvSpPr/>
          <p:nvPr/>
        </p:nvSpPr>
        <p:spPr>
          <a:xfrm>
            <a:off x="3383280" y="1874520"/>
            <a:ext cx="2587752" cy="1188720"/>
          </a:xfrm>
          <a:prstGeom prst="roundRect">
            <a:avLst>
              <a:gd name="adj" fmla="val 6154"/>
            </a:avLst>
          </a:prstGeom>
          <a:solidFill>
            <a:schemeClr val="bg2"/>
          </a:solidFill>
          <a:ln w="12700">
            <a:solidFill>
              <a:schemeClr val="bg2"/>
            </a:solidFill>
            <a:prstDash val="solid"/>
          </a:ln>
        </p:spPr>
      </p:sp>
      <p:sp>
        <p:nvSpPr>
          <p:cNvPr id="9" name="KPI label 2"/>
          <p:cNvSpPr txBox="1"/>
          <p:nvPr/>
        </p:nvSpPr>
        <p:spPr>
          <a:xfrm>
            <a:off x="3566160" y="1965960"/>
            <a:ext cx="2240280" cy="274320"/>
          </a:xfrm>
          <a:prstGeom prst="rect">
            <a:avLst/>
          </a:prstGeom>
          <a:noFill/>
          <a:ln/>
        </p:spPr>
        <p:txBody>
          <a:bodyPr wrap="square" lIns="0" tIns="0" rIns="0" bIns="0" rtlCol="0" anchor="ctr"/>
          <a:lstStyle/>
          <a:p>
            <a:pPr indent="0" marL="0">
              <a:buNone/>
            </a:pPr>
            <a:r>
              <a:rPr lang="en-US" sz="1100" b="1" spc="100" kern="0" dirty="0">
                <a:solidFill>
                  <a:schemeClr val="tx2"/>
                </a:solidFill>
              </a:rPr>
              <a:t>NEW PIPELINE ASSOCIATED</a:t>
            </a:r>
            <a:endParaRPr lang="en-US" sz="1100" dirty="0"/>
          </a:p>
        </p:txBody>
      </p:sp>
      <p:sp>
        <p:nvSpPr>
          <p:cNvPr id="10" name="KPI value 2"/>
          <p:cNvSpPr txBox="1"/>
          <p:nvPr/>
        </p:nvSpPr>
        <p:spPr>
          <a:xfrm>
            <a:off x="3566160" y="2221992"/>
            <a:ext cx="2240280" cy="502920"/>
          </a:xfrm>
          <a:prstGeom prst="rect">
            <a:avLst/>
          </a:prstGeom>
          <a:noFill/>
          <a:ln/>
        </p:spPr>
        <p:txBody>
          <a:bodyPr wrap="square" lIns="0" tIns="0" rIns="0" bIns="0" rtlCol="0" anchor="ctr"/>
          <a:lstStyle/>
          <a:p>
            <a:pPr indent="0" marL="0">
              <a:buNone/>
            </a:pPr>
            <a:r>
              <a:rPr lang="en-US" sz="3000" b="1" dirty="0">
                <a:solidFill>
                  <a:schemeClr val="tx1"/>
                </a:solidFill>
              </a:rPr>
              <a:t>$1.51B</a:t>
            </a:r>
            <a:endParaRPr lang="en-US" sz="3000" dirty="0"/>
          </a:p>
        </p:txBody>
      </p:sp>
      <p:sp>
        <p:nvSpPr>
          <p:cNvPr id="11" name="KPI detail 2"/>
          <p:cNvSpPr txBox="1"/>
          <p:nvPr/>
        </p:nvSpPr>
        <p:spPr>
          <a:xfrm>
            <a:off x="3566160" y="2724912"/>
            <a:ext cx="2240280" cy="274320"/>
          </a:xfrm>
          <a:prstGeom prst="rect">
            <a:avLst/>
          </a:prstGeom>
          <a:noFill/>
          <a:ln/>
        </p:spPr>
        <p:txBody>
          <a:bodyPr wrap="square" lIns="0" tIns="0" rIns="0" bIns="0" rtlCol="0" anchor="ctr"/>
          <a:lstStyle/>
          <a:p>
            <a:pPr indent="0" marL="0">
              <a:buNone/>
            </a:pPr>
            <a:r>
              <a:rPr lang="en-US" sz="1100" dirty="0">
                <a:solidFill>
                  <a:srgbClr val="5A6776"/>
                </a:solidFill>
              </a:rPr>
              <a:t>36 opportunities within 90 days</a:t>
            </a:r>
            <a:endParaRPr lang="en-US" sz="1100" dirty="0"/>
          </a:p>
        </p:txBody>
      </p:sp>
      <p:sp>
        <p:nvSpPr>
          <p:cNvPr id="12" name="KPI card 3"/>
          <p:cNvSpPr/>
          <p:nvPr/>
        </p:nvSpPr>
        <p:spPr>
          <a:xfrm>
            <a:off x="6217920" y="1874520"/>
            <a:ext cx="2587752" cy="1188720"/>
          </a:xfrm>
          <a:prstGeom prst="roundRect">
            <a:avLst>
              <a:gd name="adj" fmla="val 6154"/>
            </a:avLst>
          </a:prstGeom>
          <a:solidFill>
            <a:schemeClr val="bg2"/>
          </a:solidFill>
          <a:ln w="12700">
            <a:solidFill>
              <a:schemeClr val="bg2"/>
            </a:solidFill>
            <a:prstDash val="solid"/>
          </a:ln>
        </p:spPr>
      </p:sp>
      <p:sp>
        <p:nvSpPr>
          <p:cNvPr id="13" name="KPI label 3"/>
          <p:cNvSpPr txBox="1"/>
          <p:nvPr/>
        </p:nvSpPr>
        <p:spPr>
          <a:xfrm>
            <a:off x="6400800" y="1965960"/>
            <a:ext cx="2240280" cy="274320"/>
          </a:xfrm>
          <a:prstGeom prst="rect">
            <a:avLst/>
          </a:prstGeom>
          <a:noFill/>
          <a:ln/>
        </p:spPr>
        <p:txBody>
          <a:bodyPr wrap="square" lIns="0" tIns="0" rIns="0" bIns="0" rtlCol="0" anchor="ctr"/>
          <a:lstStyle/>
          <a:p>
            <a:pPr indent="0" marL="0">
              <a:buNone/>
            </a:pPr>
            <a:r>
              <a:rPr lang="en-US" sz="1100" b="1" spc="100" kern="0" dirty="0">
                <a:solidFill>
                  <a:schemeClr val="tx2"/>
                </a:solidFill>
              </a:rPr>
              <a:t>PIPELINE PER $1 OF COST</a:t>
            </a:r>
            <a:endParaRPr lang="en-US" sz="1100" dirty="0"/>
          </a:p>
        </p:txBody>
      </p:sp>
      <p:sp>
        <p:nvSpPr>
          <p:cNvPr id="14" name="KPI value 3"/>
          <p:cNvSpPr txBox="1"/>
          <p:nvPr/>
        </p:nvSpPr>
        <p:spPr>
          <a:xfrm>
            <a:off x="6400800" y="2221992"/>
            <a:ext cx="2240280" cy="502920"/>
          </a:xfrm>
          <a:prstGeom prst="rect">
            <a:avLst/>
          </a:prstGeom>
          <a:noFill/>
          <a:ln/>
        </p:spPr>
        <p:txBody>
          <a:bodyPr wrap="square" lIns="0" tIns="0" rIns="0" bIns="0" rtlCol="0" anchor="ctr"/>
          <a:lstStyle/>
          <a:p>
            <a:pPr indent="0" marL="0">
              <a:buNone/>
            </a:pPr>
            <a:r>
              <a:rPr lang="en-US" sz="3000" b="1" dirty="0">
                <a:solidFill>
                  <a:schemeClr val="tx1"/>
                </a:solidFill>
              </a:rPr>
              <a:t>$1,240</a:t>
            </a:r>
            <a:endParaRPr lang="en-US" sz="3000" dirty="0"/>
          </a:p>
        </p:txBody>
      </p:sp>
      <p:sp>
        <p:nvSpPr>
          <p:cNvPr id="15" name="KPI detail 3"/>
          <p:cNvSpPr txBox="1"/>
          <p:nvPr/>
        </p:nvSpPr>
        <p:spPr>
          <a:xfrm>
            <a:off x="6400800" y="2724912"/>
            <a:ext cx="2240280" cy="274320"/>
          </a:xfrm>
          <a:prstGeom prst="rect">
            <a:avLst/>
          </a:prstGeom>
          <a:noFill/>
          <a:ln/>
        </p:spPr>
        <p:txBody>
          <a:bodyPr wrap="square" lIns="0" tIns="0" rIns="0" bIns="0" rtlCol="0" anchor="ctr"/>
          <a:lstStyle/>
          <a:p>
            <a:pPr indent="0" marL="0">
              <a:buNone/>
            </a:pPr>
            <a:r>
              <a:rPr lang="en-US" sz="1100" dirty="0">
                <a:solidFill>
                  <a:srgbClr val="5A6776"/>
                </a:solidFill>
              </a:rPr>
              <a:t>across all events</a:t>
            </a:r>
            <a:endParaRPr lang="en-US" sz="1100" dirty="0"/>
          </a:p>
        </p:txBody>
      </p:sp>
      <p:sp>
        <p:nvSpPr>
          <p:cNvPr id="16" name="KPI card 4"/>
          <p:cNvSpPr/>
          <p:nvPr/>
        </p:nvSpPr>
        <p:spPr>
          <a:xfrm>
            <a:off x="9052560" y="1874520"/>
            <a:ext cx="2587752" cy="1188720"/>
          </a:xfrm>
          <a:prstGeom prst="roundRect">
            <a:avLst>
              <a:gd name="adj" fmla="val 6154"/>
            </a:avLst>
          </a:prstGeom>
          <a:solidFill>
            <a:schemeClr val="bg2"/>
          </a:solidFill>
          <a:ln w="12700">
            <a:solidFill>
              <a:schemeClr val="bg2"/>
            </a:solidFill>
            <a:prstDash val="solid"/>
          </a:ln>
        </p:spPr>
      </p:sp>
      <p:sp>
        <p:nvSpPr>
          <p:cNvPr id="17" name="KPI label 4"/>
          <p:cNvSpPr txBox="1"/>
          <p:nvPr/>
        </p:nvSpPr>
        <p:spPr>
          <a:xfrm>
            <a:off x="9235440" y="1965960"/>
            <a:ext cx="2240280" cy="274320"/>
          </a:xfrm>
          <a:prstGeom prst="rect">
            <a:avLst/>
          </a:prstGeom>
          <a:noFill/>
          <a:ln/>
        </p:spPr>
        <p:txBody>
          <a:bodyPr wrap="square" lIns="0" tIns="0" rIns="0" bIns="0" rtlCol="0" anchor="ctr"/>
          <a:lstStyle/>
          <a:p>
            <a:pPr indent="0" marL="0">
              <a:buNone/>
            </a:pPr>
            <a:r>
              <a:rPr lang="en-US" sz="1100" b="1" spc="100" kern="0" dirty="0">
                <a:solidFill>
                  <a:schemeClr val="tx2"/>
                </a:solidFill>
              </a:rPr>
              <a:t>COMMITTED SO FAR</a:t>
            </a:r>
            <a:endParaRPr lang="en-US" sz="1100" dirty="0"/>
          </a:p>
        </p:txBody>
      </p:sp>
      <p:sp>
        <p:nvSpPr>
          <p:cNvPr id="18" name="KPI value 4"/>
          <p:cNvSpPr txBox="1"/>
          <p:nvPr/>
        </p:nvSpPr>
        <p:spPr>
          <a:xfrm>
            <a:off x="9235440" y="2221992"/>
            <a:ext cx="2240280" cy="502920"/>
          </a:xfrm>
          <a:prstGeom prst="rect">
            <a:avLst/>
          </a:prstGeom>
          <a:noFill/>
          <a:ln/>
        </p:spPr>
        <p:txBody>
          <a:bodyPr wrap="square" lIns="0" tIns="0" rIns="0" bIns="0" rtlCol="0" anchor="ctr"/>
          <a:lstStyle/>
          <a:p>
            <a:pPr indent="0" marL="0">
              <a:buNone/>
            </a:pPr>
            <a:r>
              <a:rPr lang="en-US" sz="3000" b="1" dirty="0">
                <a:solidFill>
                  <a:schemeClr val="tx1"/>
                </a:solidFill>
              </a:rPr>
              <a:t>$263M</a:t>
            </a:r>
            <a:endParaRPr lang="en-US" sz="3000" dirty="0"/>
          </a:p>
        </p:txBody>
      </p:sp>
      <p:sp>
        <p:nvSpPr>
          <p:cNvPr id="19" name="KPI detail 4"/>
          <p:cNvSpPr txBox="1"/>
          <p:nvPr/>
        </p:nvSpPr>
        <p:spPr>
          <a:xfrm>
            <a:off x="9235440" y="2724912"/>
            <a:ext cx="2240280" cy="274320"/>
          </a:xfrm>
          <a:prstGeom prst="rect">
            <a:avLst/>
          </a:prstGeom>
          <a:noFill/>
          <a:ln/>
        </p:spPr>
        <p:txBody>
          <a:bodyPr wrap="square" lIns="0" tIns="0" rIns="0" bIns="0" rtlCol="0" anchor="ctr"/>
          <a:lstStyle/>
          <a:p>
            <a:pPr indent="0" marL="0">
              <a:buNone/>
            </a:pPr>
            <a:r>
              <a:rPr lang="en-US" sz="1100" dirty="0">
                <a:solidFill>
                  <a:srgbClr val="5A6776"/>
                </a:solidFill>
              </a:rPr>
              <a:t>17% of associated pipeline</a:t>
            </a:r>
            <a:endParaRPr lang="en-US" sz="1100" dirty="0"/>
          </a:p>
        </p:txBody>
      </p:sp>
      <p:graphicFrame>
        <p:nvGraphicFramePr>
          <p:cNvPr id="20" name="Pipeline per dollar chart" descr=""/>
          <p:cNvGraphicFramePr/>
          <p:nvPr/>
        </p:nvGraphicFramePr>
        <p:xfrm>
          <a:off x="548640" y="3291840"/>
          <a:ext cx="576072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2" name="Event scorecard"/>
          <p:cNvGraphicFramePr>
            <a:graphicFrameLocks noGrp="1"/>
          </p:cNvGraphicFramePr>
          <p:nvPr>
            <p:extLst>
              <p:ext uri="{D42A27DB-BD31-4B8C-83A1-F6EECF244321}">
                <p14:modId xmlns:p14="http://schemas.microsoft.com/office/powerpoint/2010/main" val="1579011935"/>
              </p:ext>
            </p:extLst>
          </p:nvPr>
        </p:nvGraphicFramePr>
        <p:xfrm>
          <a:off x="6675120" y="3429000"/>
          <a:ext cx="4965192" cy="914400"/>
        </p:xfrm>
        <a:graphic>
          <a:graphicData uri="http://schemas.openxmlformats.org/drawingml/2006/table">
            <a:tbl>
              <a:tblPr/>
              <a:tblGrid>
                <a:gridCol w="1417320"/>
                <a:gridCol w="868680"/>
                <a:gridCol w="941832"/>
                <a:gridCol w="868680"/>
                <a:gridCol w="868680"/>
              </a:tblGrid>
              <a:tr h="457200">
                <a:tc>
                  <a:txBody>
                    <a:bodyPr/>
                    <a:lstStyle/>
                    <a:p>
                      <a:pPr algn="l" indent="0" marL="0">
                        <a:buNone/>
                      </a:pPr>
                      <a:r>
                        <a:rPr lang="en-US" sz="1200" b="1" dirty="0">
                          <a:solidFill>
                            <a:srgbClr val="5A6776"/>
                          </a:solidFill>
                        </a:rPr>
                        <a:t>Event</a:t>
                      </a:r>
                      <a:endParaRPr lang="en-US" sz="1200" dirty="0"/>
                    </a:p>
                  </a:txBody>
                  <a:tcPr marL="54864" marR="54864" marT="27432" marB="27432"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tcPr>
                </a:tc>
                <a:tc>
                  <a:txBody>
                    <a:bodyPr/>
                    <a:lstStyle/>
                    <a:p>
                      <a:pPr algn="r" indent="0" marL="0">
                        <a:buNone/>
                      </a:pPr>
                      <a:r>
                        <a:rPr lang="en-US" sz="1200" b="1" dirty="0">
                          <a:solidFill>
                            <a:srgbClr val="5A6776"/>
                          </a:solidFill>
                        </a:rPr>
                        <a:t>Cost</a:t>
                      </a:r>
                      <a:endParaRPr lang="en-US" sz="1200" dirty="0"/>
                    </a:p>
                  </a:txBody>
                  <a:tcPr marL="54864" marR="54864" marT="27432" marB="27432"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tcPr>
                </a:tc>
                <a:tc>
                  <a:txBody>
                    <a:bodyPr/>
                    <a:lstStyle/>
                    <a:p>
                      <a:pPr algn="r" indent="0" marL="0">
                        <a:buNone/>
                      </a:pPr>
                      <a:r>
                        <a:rPr lang="en-US" sz="1200" b="1" dirty="0">
                          <a:solidFill>
                            <a:srgbClr val="5A6776"/>
                          </a:solidFill>
                        </a:rPr>
                        <a:t>Cost / firm</a:t>
                      </a:r>
                      <a:endParaRPr lang="en-US" sz="1200" dirty="0"/>
                    </a:p>
                  </a:txBody>
                  <a:tcPr marL="54864" marR="54864" marT="27432" marB="27432"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tcPr>
                </a:tc>
                <a:tc>
                  <a:txBody>
                    <a:bodyPr/>
                    <a:lstStyle/>
                    <a:p>
                      <a:pPr algn="r" indent="0" marL="0">
                        <a:buNone/>
                      </a:pPr>
                      <a:r>
                        <a:rPr lang="en-US" sz="1200" b="1" dirty="0">
                          <a:solidFill>
                            <a:srgbClr val="5A6776"/>
                          </a:solidFill>
                        </a:rPr>
                        <a:t>Met after</a:t>
                      </a:r>
                      <a:endParaRPr lang="en-US" sz="1200" dirty="0"/>
                    </a:p>
                  </a:txBody>
                  <a:tcPr marL="54864" marR="54864" marT="27432" marB="27432"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tcPr>
                </a:tc>
                <a:tc>
                  <a:txBody>
                    <a:bodyPr/>
                    <a:lstStyle/>
                    <a:p>
                      <a:pPr algn="r" indent="0" marL="0">
                        <a:buNone/>
                      </a:pPr>
                      <a:r>
                        <a:rPr lang="en-US" sz="1200" b="1" dirty="0">
                          <a:solidFill>
                            <a:srgbClr val="5A6776"/>
                          </a:solidFill>
                        </a:rPr>
                        <a:t>Committed</a:t>
                      </a:r>
                      <a:endParaRPr lang="en-US" sz="1200" dirty="0"/>
                    </a:p>
                  </a:txBody>
                  <a:tcPr marL="54864" marR="54864" marT="27432" marB="27432"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tcPr>
                </a:tc>
              </a:tr>
              <a:tr h="457200">
                <a:tc>
                  <a:txBody>
                    <a:bodyPr/>
                    <a:lstStyle/>
                    <a:p>
                      <a:pPr indent="0" marL="0">
                        <a:buNone/>
                      </a:pPr>
                      <a:r>
                        <a:rPr lang="en-US" sz="1400" dirty="0">
                          <a:solidFill>
                            <a:srgbClr val="2F6DB5"/>
                          </a:solidFill>
                        </a:rPr>
                        <a:t>● </a:t>
                      </a:r>
                      <a:pPr indent="0" marL="0">
                        <a:buNone/>
                      </a:pPr>
                      <a:r>
                        <a:rPr lang="en-US" sz="1400" b="1" dirty="0">
                          <a:solidFill>
                            <a:schemeClr val="tx1"/>
                          </a:solidFill>
                        </a:rPr>
                        <a:t>New York</a:t>
                      </a:r>
                      <a:endParaRPr lang="en-US" sz="1400" dirty="0"/>
                    </a:p>
                  </a:txBody>
                  <a:tcPr marL="54864" marR="54864" marT="27432" marB="27432"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tcPr>
                </a:tc>
                <a:tc>
                  <a:txBody>
                    <a:bodyPr/>
                    <a:lstStyle/>
                    <a:p>
                      <a:pPr algn="r" indent="0" marL="0">
                        <a:buNone/>
                      </a:pPr>
                      <a:r>
                        <a:rPr lang="en-US" sz="1400" dirty="0">
                          <a:solidFill>
                            <a:schemeClr val="tx1"/>
                          </a:solidFill>
                        </a:rPr>
                        <a:t>$420K</a:t>
                      </a:r>
                      <a:endParaRPr lang="en-US" sz="1400" dirty="0"/>
                    </a:p>
                  </a:txBody>
                  <a:tcPr marL="54864" marR="54864" marT="27432" marB="27432"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tcPr>
                </a:tc>
                <a:tc>
                  <a:txBody>
                    <a:bodyPr/>
                    <a:lstStyle/>
                    <a:p>
                      <a:pPr algn="r" indent="0" marL="0">
                        <a:buNone/>
                      </a:pPr>
                      <a:r>
                        <a:rPr lang="en-US" sz="1400" dirty="0">
                          <a:solidFill>
                            <a:schemeClr val="tx1"/>
                          </a:solidFill>
                        </a:rPr>
                        <a:t>$16K</a:t>
                      </a:r>
                      <a:endParaRPr lang="en-US" sz="1400" dirty="0"/>
                    </a:p>
                  </a:txBody>
                  <a:tcPr marL="54864" marR="54864" marT="27432" marB="27432"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tcPr>
                </a:tc>
                <a:tc>
                  <a:txBody>
                    <a:bodyPr/>
                    <a:lstStyle/>
                    <a:p>
                      <a:pPr algn="r" indent="0" marL="0">
                        <a:buNone/>
                      </a:pPr>
                      <a:r>
                        <a:rPr lang="en-US" sz="1400" dirty="0">
                          <a:solidFill>
                            <a:schemeClr val="tx1"/>
                          </a:solidFill>
                        </a:rPr>
                        <a:t>81%</a:t>
                      </a:r>
                      <a:endParaRPr lang="en-US" sz="1400" dirty="0"/>
                    </a:p>
                  </a:txBody>
                  <a:tcPr marL="54864" marR="54864" marT="27432" marB="27432"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tcPr>
                </a:tc>
                <a:tc>
                  <a:txBody>
                    <a:bodyPr/>
                    <a:lstStyle/>
                    <a:p>
                      <a:pPr algn="r" indent="0" marL="0">
                        <a:buNone/>
                      </a:pPr>
                      <a:r>
                        <a:rPr lang="en-US" sz="1400" dirty="0">
                          <a:solidFill>
                            <a:schemeClr val="tx1"/>
                          </a:solidFill>
                        </a:rPr>
                        <a:t>$228M</a:t>
                      </a:r>
                      <a:endParaRPr lang="en-US" sz="1400" dirty="0"/>
                    </a:p>
                  </a:txBody>
                  <a:tcPr marL="54864" marR="54864" marT="27432" marB="27432"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tcPr>
                </a:tc>
              </a:tr>
              <a:tr h="457200">
                <a:tc>
                  <a:txBody>
                    <a:bodyPr/>
                    <a:lstStyle/>
                    <a:p>
                      <a:pPr indent="0" marL="0">
                        <a:buNone/>
                      </a:pPr>
                      <a:r>
                        <a:rPr lang="en-US" sz="1400" dirty="0">
                          <a:solidFill>
                            <a:srgbClr val="B8761A"/>
                          </a:solidFill>
                        </a:rPr>
                        <a:t>● </a:t>
                      </a:r>
                      <a:pPr indent="0" marL="0">
                        <a:buNone/>
                      </a:pPr>
                      <a:r>
                        <a:rPr lang="en-US" sz="1400" b="1" dirty="0">
                          <a:solidFill>
                            <a:schemeClr val="tx1"/>
                          </a:solidFill>
                        </a:rPr>
                        <a:t>London</a:t>
                      </a:r>
                      <a:endParaRPr lang="en-US" sz="1400" dirty="0"/>
                    </a:p>
                  </a:txBody>
                  <a:tcPr marL="54864" marR="54864" marT="27432" marB="27432"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tcPr>
                </a:tc>
                <a:tc>
                  <a:txBody>
                    <a:bodyPr/>
                    <a:lstStyle/>
                    <a:p>
                      <a:pPr algn="r" indent="0" marL="0">
                        <a:buNone/>
                      </a:pPr>
                      <a:r>
                        <a:rPr lang="en-US" sz="1400" dirty="0">
                          <a:solidFill>
                            <a:schemeClr val="tx1"/>
                          </a:solidFill>
                        </a:rPr>
                        <a:t>$185K</a:t>
                      </a:r>
                      <a:endParaRPr lang="en-US" sz="1400" dirty="0"/>
                    </a:p>
                  </a:txBody>
                  <a:tcPr marL="54864" marR="54864" marT="27432" marB="27432"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tcPr>
                </a:tc>
                <a:tc>
                  <a:txBody>
                    <a:bodyPr/>
                    <a:lstStyle/>
                    <a:p>
                      <a:pPr algn="r" indent="0" marL="0">
                        <a:buNone/>
                      </a:pPr>
                      <a:r>
                        <a:rPr lang="en-US" sz="1400" dirty="0">
                          <a:solidFill>
                            <a:schemeClr val="tx1"/>
                          </a:solidFill>
                        </a:rPr>
                        <a:t>$7K</a:t>
                      </a:r>
                      <a:endParaRPr lang="en-US" sz="1400" dirty="0"/>
                    </a:p>
                  </a:txBody>
                  <a:tcPr marL="54864" marR="54864" marT="27432" marB="27432"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tcPr>
                </a:tc>
                <a:tc>
                  <a:txBody>
                    <a:bodyPr/>
                    <a:lstStyle/>
                    <a:p>
                      <a:pPr algn="r" indent="0" marL="0">
                        <a:buNone/>
                      </a:pPr>
                      <a:r>
                        <a:rPr lang="en-US" sz="1400" dirty="0">
                          <a:solidFill>
                            <a:schemeClr val="tx1"/>
                          </a:solidFill>
                        </a:rPr>
                        <a:t>76%</a:t>
                      </a:r>
                      <a:endParaRPr lang="en-US" sz="1400" dirty="0"/>
                    </a:p>
                  </a:txBody>
                  <a:tcPr marL="54864" marR="54864" marT="27432" marB="27432"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tcPr>
                </a:tc>
                <a:tc>
                  <a:txBody>
                    <a:bodyPr/>
                    <a:lstStyle/>
                    <a:p>
                      <a:pPr algn="r" indent="0" marL="0">
                        <a:buNone/>
                      </a:pPr>
                      <a:r>
                        <a:rPr lang="en-US" sz="1400" dirty="0">
                          <a:solidFill>
                            <a:schemeClr val="tx1"/>
                          </a:solidFill>
                        </a:rPr>
                        <a:t>$35M</a:t>
                      </a:r>
                      <a:endParaRPr lang="en-US" sz="1400" dirty="0"/>
                    </a:p>
                  </a:txBody>
                  <a:tcPr marL="54864" marR="54864" marT="27432" marB="27432"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tcPr>
                </a:tc>
              </a:tr>
              <a:tr h="457200">
                <a:tc>
                  <a:txBody>
                    <a:bodyPr/>
                    <a:lstStyle/>
                    <a:p>
                      <a:pPr indent="0" marL="0">
                        <a:buNone/>
                      </a:pPr>
                      <a:r>
                        <a:rPr lang="en-US" sz="1400" dirty="0">
                          <a:solidFill>
                            <a:srgbClr val="25897A"/>
                          </a:solidFill>
                        </a:rPr>
                        <a:t>● </a:t>
                      </a:r>
                      <a:pPr indent="0" marL="0">
                        <a:buNone/>
                      </a:pPr>
                      <a:r>
                        <a:rPr lang="en-US" sz="1400" b="1" dirty="0">
                          <a:solidFill>
                            <a:schemeClr val="tx1"/>
                          </a:solidFill>
                        </a:rPr>
                        <a:t>Berlin</a:t>
                      </a:r>
                      <a:endParaRPr lang="en-US" sz="1400" dirty="0"/>
                    </a:p>
                  </a:txBody>
                  <a:tcPr marL="54864" marR="54864" marT="27432" marB="27432"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tcPr>
                </a:tc>
                <a:tc>
                  <a:txBody>
                    <a:bodyPr/>
                    <a:lstStyle/>
                    <a:p>
                      <a:pPr algn="r" indent="0" marL="0">
                        <a:buNone/>
                      </a:pPr>
                      <a:r>
                        <a:rPr lang="en-US" sz="1400" dirty="0">
                          <a:solidFill>
                            <a:schemeClr val="tx1"/>
                          </a:solidFill>
                        </a:rPr>
                        <a:t>$610K</a:t>
                      </a:r>
                      <a:endParaRPr lang="en-US" sz="1400" dirty="0"/>
                    </a:p>
                  </a:txBody>
                  <a:tcPr marL="54864" marR="54864" marT="27432" marB="27432"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tcPr>
                </a:tc>
                <a:tc>
                  <a:txBody>
                    <a:bodyPr/>
                    <a:lstStyle/>
                    <a:p>
                      <a:pPr algn="r" indent="0" marL="0">
                        <a:buNone/>
                      </a:pPr>
                      <a:r>
                        <a:rPr lang="en-US" sz="1400" dirty="0">
                          <a:solidFill>
                            <a:schemeClr val="tx1"/>
                          </a:solidFill>
                        </a:rPr>
                        <a:t>$32K</a:t>
                      </a:r>
                      <a:endParaRPr lang="en-US" sz="1400" dirty="0"/>
                    </a:p>
                  </a:txBody>
                  <a:tcPr marL="54864" marR="54864" marT="27432" marB="27432"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tcPr>
                </a:tc>
                <a:tc>
                  <a:txBody>
                    <a:bodyPr/>
                    <a:lstStyle/>
                    <a:p>
                      <a:pPr algn="r" indent="0" marL="0">
                        <a:buNone/>
                      </a:pPr>
                      <a:r>
                        <a:rPr lang="en-US" sz="1400" dirty="0">
                          <a:solidFill>
                            <a:schemeClr val="tx1"/>
                          </a:solidFill>
                        </a:rPr>
                        <a:t>58%</a:t>
                      </a:r>
                      <a:endParaRPr lang="en-US" sz="1400" dirty="0"/>
                    </a:p>
                  </a:txBody>
                  <a:tcPr marL="54864" marR="54864" marT="27432" marB="27432"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tcPr>
                </a:tc>
                <a:tc>
                  <a:txBody>
                    <a:bodyPr/>
                    <a:lstStyle/>
                    <a:p>
                      <a:pPr algn="r" indent="0" marL="0">
                        <a:buNone/>
                      </a:pPr>
                      <a:r>
                        <a:rPr lang="en-US" sz="1400" dirty="0">
                          <a:solidFill>
                            <a:schemeClr val="tx1"/>
                          </a:solidFill>
                        </a:rPr>
                        <a:t>$0</a:t>
                      </a:r>
                      <a:endParaRPr lang="en-US" sz="1400" dirty="0"/>
                    </a:p>
                  </a:txBody>
                  <a:tcPr marL="54864" marR="54864" marT="27432" marB="27432" anchor="ctr">
                    <a:lnL w="9525" cap="flat" cmpd="sng" algn="ctr">
                      <a:solidFill>
                        <a:srgbClr val="D9DFE6"/>
                      </a:solidFill>
                      <a:prstDash val="solid"/>
                      <a:round/>
                      <a:headEnd type="none" w="med" len="med"/>
                      <a:tailEnd type="none" w="med" len="med"/>
                    </a:lnL>
                    <a:lnR w="9525" cap="flat" cmpd="sng" algn="ctr">
                      <a:solidFill>
                        <a:srgbClr val="D9DFE6"/>
                      </a:solidFill>
                      <a:prstDash val="solid"/>
                      <a:round/>
                      <a:headEnd type="none" w="med" len="med"/>
                      <a:tailEnd type="none" w="med" len="med"/>
                    </a:lnR>
                    <a:lnT w="9525" cap="flat" cmpd="sng" algn="ctr">
                      <a:solidFill>
                        <a:srgbClr val="D9DFE6"/>
                      </a:solidFill>
                      <a:prstDash val="solid"/>
                      <a:round/>
                      <a:headEnd type="none" w="med" len="med"/>
                      <a:tailEnd type="none" w="med" len="med"/>
                    </a:lnT>
                    <a:lnB w="9525" cap="flat" cmpd="sng" algn="ctr">
                      <a:solidFill>
                        <a:srgbClr val="D9DFE6"/>
                      </a:solidFill>
                      <a:prstDash val="solid"/>
                      <a:round/>
                      <a:headEnd type="none" w="med" len="med"/>
                      <a:tailEnd type="none" w="med" len="med"/>
                    </a:lnB>
                  </a:tcPr>
                </a:tc>
              </a:tr>
            </a:tbl>
          </a:graphicData>
        </a:graphic>
      </p:graphicFrame>
      <p:sp>
        <p:nvSpPr>
          <p:cNvPr id="22" name="Scorecard note"/>
          <p:cNvSpPr txBox="1"/>
          <p:nvPr/>
        </p:nvSpPr>
        <p:spPr>
          <a:xfrm>
            <a:off x="6675120" y="5440680"/>
            <a:ext cx="4965192" cy="274320"/>
          </a:xfrm>
          <a:prstGeom prst="rect">
            <a:avLst/>
          </a:prstGeom>
          <a:noFill/>
          <a:ln/>
        </p:spPr>
        <p:txBody>
          <a:bodyPr wrap="square" lIns="0" tIns="0" rIns="0" bIns="0" rtlCol="0" anchor="ctr"/>
          <a:lstStyle/>
          <a:p>
            <a:pPr indent="0" marL="0">
              <a:buNone/>
            </a:pPr>
            <a:r>
              <a:rPr lang="en-US" sz="1100" dirty="0">
                <a:solidFill>
                  <a:srgbClr val="5A6776"/>
                </a:solidFill>
              </a:rPr>
              <a:t>Met after = attending firms with a meeting within 90 days.</a:t>
            </a:r>
            <a:endParaRPr lang="en-US" sz="11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77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b"/>
          <a:lstStyle/>
          <a:p>
            <a:pPr algn="l" indent="0" marL="0">
              <a:buNone/>
            </a:pPr>
            <a:r>
              <a:rPr lang="en-US" sz="3200" b="1" dirty="0">
                <a:solidFill>
                  <a:schemeClr val="tx1"/>
                </a:solidFill>
              </a:rPr>
              <a:t>We can't yet say the events caused this pipeline</a:t>
            </a:r>
            <a:endParaRPr lang="en-US" sz="3200" dirty="0"/>
          </a:p>
        </p:txBody>
      </p:sp>
      <p:sp>
        <p:nvSpPr>
          <p:cNvPr id="3" name="Text 0"/>
          <p:cNvSpPr/>
          <p:nvPr>
            <p:ph idx="101" type="body" hasCustomPrompt="1"/>
          </p:nvPr>
        </p:nvSpPr>
        <p:spPr>
          <a:xfrm>
            <a:off x="548640" y="1143000"/>
            <a:ext cx="11091672" cy="548640"/>
          </a:xfrm>
          <a:prstGeom prst="rect">
            <a:avLst/>
          </a:prstGeom>
          <a:noFill/>
          <a:ln/>
        </p:spPr>
        <p:txBody>
          <a:bodyPr wrap="square" lIns="0" tIns="0" rIns="0" bIns="0" rtlCol="0" anchor="t"/>
          <a:lstStyle/>
          <a:p>
            <a:pPr algn="l" indent="0" marL="0">
              <a:buNone/>
            </a:pPr>
            <a:r>
              <a:rPr lang="en-US" sz="1600" dirty="0">
                <a:solidFill>
                  <a:schemeClr val="tx2"/>
                </a:solidFill>
              </a:rPr>
              <a:t>Firms that attended no event did at least as well, and their records look incomplete. Read the event figures as association.</a:t>
            </a:r>
            <a:endParaRPr lang="en-US" sz="1600" dirty="0"/>
          </a:p>
        </p:txBody>
      </p:sp>
      <p:graphicFrame>
        <p:nvGraphicFramePr>
          <p:cNvPr id="4" name="Attendees vs no event chart" descr=""/>
          <p:cNvGraphicFramePr/>
          <p:nvPr/>
        </p:nvGraphicFramePr>
        <p:xfrm>
          <a:off x="548640" y="1828800"/>
          <a:ext cx="548640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Before vs after chart" descr=""/>
          <p:cNvGraphicFramePr/>
          <p:nvPr/>
        </p:nvGraphicFramePr>
        <p:xfrm>
          <a:off x="6309360" y="1828800"/>
          <a:ext cx="5330952" cy="2743200"/>
        </p:xfrm>
        <a:graphic xmlns:a="http://schemas.openxmlformats.org/drawingml/2006/main">
          <a:graphicData uri="http://schemas.openxmlformats.org/drawingml/2006/chart">
            <c:chart xmlns:c="http://schemas.openxmlformats.org/drawingml/2006/chart" r:id="rId2"/>
          </a:graphicData>
        </a:graphic>
      </p:graphicFrame>
      <p:sp>
        <p:nvSpPr>
          <p:cNvPr id="6" name="Evidence card 1"/>
          <p:cNvSpPr/>
          <p:nvPr/>
        </p:nvSpPr>
        <p:spPr>
          <a:xfrm>
            <a:off x="548640" y="4846320"/>
            <a:ext cx="3547872" cy="1325880"/>
          </a:xfrm>
          <a:prstGeom prst="roundRect">
            <a:avLst>
              <a:gd name="adj" fmla="val 5517"/>
            </a:avLst>
          </a:prstGeom>
          <a:solidFill>
            <a:schemeClr val="bg2"/>
          </a:solidFill>
          <a:ln w="12700">
            <a:solidFill>
              <a:schemeClr val="bg2"/>
            </a:solidFill>
            <a:prstDash val="solid"/>
          </a:ln>
        </p:spPr>
      </p:sp>
      <p:sp>
        <p:nvSpPr>
          <p:cNvPr id="7" name="Evidence value 1"/>
          <p:cNvSpPr txBox="1"/>
          <p:nvPr/>
        </p:nvSpPr>
        <p:spPr>
          <a:xfrm>
            <a:off x="731520" y="4919472"/>
            <a:ext cx="3200400" cy="548640"/>
          </a:xfrm>
          <a:prstGeom prst="rect">
            <a:avLst/>
          </a:prstGeom>
          <a:noFill/>
          <a:ln/>
        </p:spPr>
        <p:txBody>
          <a:bodyPr wrap="square" lIns="0" tIns="0" rIns="0" bIns="0" rtlCol="0" anchor="ctr"/>
          <a:lstStyle/>
          <a:p>
            <a:pPr indent="0" marL="0">
              <a:buNone/>
            </a:pPr>
            <a:r>
              <a:rPr lang="en-US" sz="2800" b="1" dirty="0">
                <a:solidFill>
                  <a:schemeClr val="tx2"/>
                </a:solidFill>
              </a:rPr>
              <a:t>0</a:t>
            </a:r>
            <a:endParaRPr lang="en-US" sz="2800" dirty="0"/>
          </a:p>
        </p:txBody>
      </p:sp>
      <p:sp>
        <p:nvSpPr>
          <p:cNvPr id="8" name="Evidence text 1"/>
          <p:cNvSpPr txBox="1"/>
          <p:nvPr/>
        </p:nvSpPr>
        <p:spPr>
          <a:xfrm>
            <a:off x="731520" y="5468112"/>
            <a:ext cx="3200400" cy="640080"/>
          </a:xfrm>
          <a:prstGeom prst="rect">
            <a:avLst/>
          </a:prstGeom>
          <a:noFill/>
          <a:ln/>
        </p:spPr>
        <p:txBody>
          <a:bodyPr wrap="square" lIns="0" tIns="0" rIns="0" bIns="0" rtlCol="0" anchor="t"/>
          <a:lstStyle/>
          <a:p>
            <a:pPr indent="0" marL="0">
              <a:buNone/>
            </a:pPr>
            <a:r>
              <a:rPr lang="en-US" sz="1300" dirty="0">
                <a:solidFill>
                  <a:schemeClr val="tx1"/>
                </a:solidFill>
              </a:rPr>
              <a:t>logged meetings for the 10 firms at no event, yet they opened 24 opportunities</a:t>
            </a:r>
            <a:endParaRPr lang="en-US" sz="1300" dirty="0"/>
          </a:p>
        </p:txBody>
      </p:sp>
      <p:sp>
        <p:nvSpPr>
          <p:cNvPr id="9" name="Evidence card 2"/>
          <p:cNvSpPr/>
          <p:nvPr/>
        </p:nvSpPr>
        <p:spPr>
          <a:xfrm>
            <a:off x="4306824" y="4846320"/>
            <a:ext cx="3547872" cy="1325880"/>
          </a:xfrm>
          <a:prstGeom prst="roundRect">
            <a:avLst>
              <a:gd name="adj" fmla="val 5517"/>
            </a:avLst>
          </a:prstGeom>
          <a:solidFill>
            <a:schemeClr val="bg2"/>
          </a:solidFill>
          <a:ln w="12700">
            <a:solidFill>
              <a:schemeClr val="bg2"/>
            </a:solidFill>
            <a:prstDash val="solid"/>
          </a:ln>
        </p:spPr>
      </p:sp>
      <p:sp>
        <p:nvSpPr>
          <p:cNvPr id="10" name="Evidence value 2"/>
          <p:cNvSpPr txBox="1"/>
          <p:nvPr/>
        </p:nvSpPr>
        <p:spPr>
          <a:xfrm>
            <a:off x="4489704" y="4919472"/>
            <a:ext cx="3200400" cy="548640"/>
          </a:xfrm>
          <a:prstGeom prst="rect">
            <a:avLst/>
          </a:prstGeom>
          <a:noFill/>
          <a:ln/>
        </p:spPr>
        <p:txBody>
          <a:bodyPr wrap="square" lIns="0" tIns="0" rIns="0" bIns="0" rtlCol="0" anchor="ctr"/>
          <a:lstStyle/>
          <a:p>
            <a:pPr indent="0" marL="0">
              <a:buNone/>
            </a:pPr>
            <a:r>
              <a:rPr lang="en-US" sz="2800" b="1" dirty="0">
                <a:solidFill>
                  <a:schemeClr val="tx2"/>
                </a:solidFill>
              </a:rPr>
              <a:t>42%</a:t>
            </a:r>
            <a:endParaRPr lang="en-US" sz="2800" dirty="0"/>
          </a:p>
        </p:txBody>
      </p:sp>
      <p:sp>
        <p:nvSpPr>
          <p:cNvPr id="11" name="Evidence text 2"/>
          <p:cNvSpPr txBox="1"/>
          <p:nvPr/>
        </p:nvSpPr>
        <p:spPr>
          <a:xfrm>
            <a:off x="4489704" y="5468112"/>
            <a:ext cx="3200400" cy="640080"/>
          </a:xfrm>
          <a:prstGeom prst="rect">
            <a:avLst/>
          </a:prstGeom>
          <a:noFill/>
          <a:ln/>
        </p:spPr>
        <p:txBody>
          <a:bodyPr wrap="square" lIns="0" tIns="0" rIns="0" bIns="0" rtlCol="0" anchor="t"/>
          <a:lstStyle/>
          <a:p>
            <a:pPr indent="0" marL="0">
              <a:buNone/>
            </a:pPr>
            <a:r>
              <a:rPr lang="en-US" sz="1300" dirty="0">
                <a:solidFill>
                  <a:schemeClr val="tx1"/>
                </a:solidFill>
              </a:rPr>
              <a:t>of Berlin's attending firms had no follow-up meeting within 90 days</a:t>
            </a:r>
            <a:endParaRPr lang="en-US" sz="1300" dirty="0"/>
          </a:p>
        </p:txBody>
      </p:sp>
      <p:sp>
        <p:nvSpPr>
          <p:cNvPr id="12" name="Evidence card 3"/>
          <p:cNvSpPr/>
          <p:nvPr/>
        </p:nvSpPr>
        <p:spPr>
          <a:xfrm>
            <a:off x="8065008" y="4846320"/>
            <a:ext cx="3547872" cy="1325880"/>
          </a:xfrm>
          <a:prstGeom prst="roundRect">
            <a:avLst>
              <a:gd name="adj" fmla="val 5517"/>
            </a:avLst>
          </a:prstGeom>
          <a:solidFill>
            <a:schemeClr val="bg2"/>
          </a:solidFill>
          <a:ln w="12700">
            <a:solidFill>
              <a:schemeClr val="bg2"/>
            </a:solidFill>
            <a:prstDash val="solid"/>
          </a:ln>
        </p:spPr>
      </p:sp>
      <p:sp>
        <p:nvSpPr>
          <p:cNvPr id="13" name="Evidence value 3"/>
          <p:cNvSpPr txBox="1"/>
          <p:nvPr/>
        </p:nvSpPr>
        <p:spPr>
          <a:xfrm>
            <a:off x="8247888" y="4919472"/>
            <a:ext cx="3200400" cy="548640"/>
          </a:xfrm>
          <a:prstGeom prst="rect">
            <a:avLst/>
          </a:prstGeom>
          <a:noFill/>
          <a:ln/>
        </p:spPr>
        <p:txBody>
          <a:bodyPr wrap="square" lIns="0" tIns="0" rIns="0" bIns="0" rtlCol="0" anchor="ctr"/>
          <a:lstStyle/>
          <a:p>
            <a:pPr indent="0" marL="0">
              <a:buNone/>
            </a:pPr>
            <a:r>
              <a:rPr lang="en-US" sz="2800" b="1" dirty="0">
                <a:solidFill>
                  <a:schemeClr val="tx2"/>
                </a:solidFill>
              </a:rPr>
              <a:t>$4,077</a:t>
            </a:r>
            <a:endParaRPr lang="en-US" sz="2800" dirty="0"/>
          </a:p>
        </p:txBody>
      </p:sp>
      <p:sp>
        <p:nvSpPr>
          <p:cNvPr id="14" name="Evidence text 3"/>
          <p:cNvSpPr txBox="1"/>
          <p:nvPr/>
        </p:nvSpPr>
        <p:spPr>
          <a:xfrm>
            <a:off x="8247888" y="5468112"/>
            <a:ext cx="3200400" cy="640080"/>
          </a:xfrm>
          <a:prstGeom prst="rect">
            <a:avLst/>
          </a:prstGeom>
          <a:noFill/>
          <a:ln/>
        </p:spPr>
        <p:txBody>
          <a:bodyPr wrap="square" lIns="0" tIns="0" rIns="0" bIns="0" rtlCol="0" anchor="t"/>
          <a:lstStyle/>
          <a:p>
            <a:pPr indent="0" marL="0">
              <a:buNone/>
            </a:pPr>
            <a:r>
              <a:rPr lang="en-US" sz="1300" dirty="0">
                <a:solidFill>
                  <a:schemeClr val="tx1"/>
                </a:solidFill>
              </a:rPr>
              <a:t>New York's pipeline per $1 at 180 days, against $2,117 at 90: likely activity unrelated to the event</a:t>
            </a:r>
            <a:endParaRPr lang="en-US" sz="13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77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b"/>
          <a:lstStyle/>
          <a:p>
            <a:pPr algn="l" indent="0" marL="0">
              <a:buNone/>
            </a:pPr>
            <a:r>
              <a:rPr lang="en-US" sz="3200" b="1" dirty="0">
                <a:solidFill>
                  <a:schemeClr val="tx1"/>
                </a:solidFill>
              </a:rPr>
              <a:t>Three actions for the next event cycle</a:t>
            </a:r>
            <a:endParaRPr lang="en-US" sz="3200" dirty="0"/>
          </a:p>
        </p:txBody>
      </p:sp>
      <p:sp>
        <p:nvSpPr>
          <p:cNvPr id="3" name="Text 0"/>
          <p:cNvSpPr/>
          <p:nvPr>
            <p:ph idx="101" type="body" hasCustomPrompt="1"/>
          </p:nvPr>
        </p:nvSpPr>
        <p:spPr>
          <a:xfrm>
            <a:off x="548640" y="1143000"/>
            <a:ext cx="11091672" cy="548640"/>
          </a:xfrm>
          <a:prstGeom prst="rect">
            <a:avLst/>
          </a:prstGeom>
          <a:noFill/>
          <a:ln/>
        </p:spPr>
        <p:txBody>
          <a:bodyPr wrap="square" lIns="0" tIns="0" rIns="0" bIns="0" rtlCol="0" anchor="t"/>
          <a:lstStyle/>
          <a:p>
            <a:pPr algn="l" indent="0" marL="0">
              <a:buNone/>
            </a:pPr>
            <a:r>
              <a:rPr lang="en-US" sz="1600" dirty="0">
                <a:solidFill>
                  <a:schemeClr val="tx2"/>
                </a:solidFill>
              </a:rPr>
              <a:t>Keep what worked, fix what didn't, and make the next review able to measure cause, not just association.</a:t>
            </a:r>
            <a:endParaRPr lang="en-US" sz="1600" dirty="0"/>
          </a:p>
        </p:txBody>
      </p:sp>
      <p:sp>
        <p:nvSpPr>
          <p:cNvPr id="4" name="Action card 1"/>
          <p:cNvSpPr/>
          <p:nvPr/>
        </p:nvSpPr>
        <p:spPr>
          <a:xfrm>
            <a:off x="548640" y="1874520"/>
            <a:ext cx="3547872" cy="2788920"/>
          </a:xfrm>
          <a:prstGeom prst="roundRect">
            <a:avLst>
              <a:gd name="adj" fmla="val 2623"/>
            </a:avLst>
          </a:prstGeom>
          <a:solidFill>
            <a:schemeClr val="bg2"/>
          </a:solidFill>
          <a:ln w="12700">
            <a:solidFill>
              <a:schemeClr val="bg2"/>
            </a:solidFill>
            <a:prstDash val="solid"/>
          </a:ln>
        </p:spPr>
      </p:sp>
      <p:sp>
        <p:nvSpPr>
          <p:cNvPr id="5" name="Action icon circle 1"/>
          <p:cNvSpPr/>
          <p:nvPr/>
        </p:nvSpPr>
        <p:spPr>
          <a:xfrm>
            <a:off x="777240" y="2103120"/>
            <a:ext cx="685800" cy="685800"/>
          </a:xfrm>
          <a:prstGeom prst="ellipse">
            <a:avLst/>
          </a:prstGeom>
          <a:solidFill>
            <a:srgbClr val="B8761A"/>
          </a:solidFill>
          <a:ln w="12700">
            <a:solidFill>
              <a:srgbClr val="B8761A"/>
            </a:solidFill>
            <a:prstDash val="solid"/>
          </a:ln>
        </p:spPr>
      </p:sp>
      <p:pic>
        <p:nvPicPr>
          <p:cNvPr id="6" name="Action icon 1" descr="Dinner">    </p:cNvPr>
          <p:cNvPicPr>
            <a:picLocks noChangeAspect="1"/>
          </p:cNvPicPr>
          <p:nvPr/>
        </p:nvPicPr>
        <p:blipFill>
          <a:blip r:embed="rId1"/>
          <a:stretch>
            <a:fillRect/>
          </a:stretch>
        </p:blipFill>
        <p:spPr>
          <a:xfrm>
            <a:off x="941832" y="2267712"/>
            <a:ext cx="356616" cy="356616"/>
          </a:xfrm>
          <a:prstGeom prst="rect">
            <a:avLst/>
          </a:prstGeom>
        </p:spPr>
      </p:pic>
      <p:sp>
        <p:nvSpPr>
          <p:cNvPr id="7" name="Action heading 1"/>
          <p:cNvSpPr txBox="1"/>
          <p:nvPr/>
        </p:nvSpPr>
        <p:spPr>
          <a:xfrm>
            <a:off x="777240" y="2926080"/>
            <a:ext cx="3108960" cy="640080"/>
          </a:xfrm>
          <a:prstGeom prst="rect">
            <a:avLst/>
          </a:prstGeom>
          <a:noFill/>
          <a:ln/>
        </p:spPr>
        <p:txBody>
          <a:bodyPr wrap="square" lIns="0" tIns="0" rIns="0" bIns="0" rtlCol="0" anchor="t"/>
          <a:lstStyle/>
          <a:p>
            <a:pPr indent="0" marL="0">
              <a:buNone/>
            </a:pPr>
            <a:r>
              <a:rPr lang="en-US" sz="1800" b="1" dirty="0">
                <a:solidFill>
                  <a:schemeClr val="tx1"/>
                </a:solidFill>
              </a:rPr>
              <a:t>Run the hosted-dinner format again, as a test</a:t>
            </a:r>
            <a:endParaRPr lang="en-US" sz="1800" dirty="0"/>
          </a:p>
        </p:txBody>
      </p:sp>
      <p:sp>
        <p:nvSpPr>
          <p:cNvPr id="8" name="Action text 1"/>
          <p:cNvSpPr txBox="1"/>
          <p:nvPr/>
        </p:nvSpPr>
        <p:spPr>
          <a:xfrm>
            <a:off x="777240" y="3566160"/>
            <a:ext cx="3108960" cy="1005840"/>
          </a:xfrm>
          <a:prstGeom prst="rect">
            <a:avLst/>
          </a:prstGeom>
          <a:noFill/>
          <a:ln/>
        </p:spPr>
        <p:txBody>
          <a:bodyPr wrap="square" lIns="0" tIns="0" rIns="0" bIns="0" rtlCol="0" anchor="t"/>
          <a:lstStyle/>
          <a:p>
            <a:pPr indent="0" marL="0">
              <a:buNone/>
            </a:pPr>
            <a:r>
              <a:rPr lang="en-US" sz="1400" dirty="0">
                <a:solidFill>
                  <a:schemeClr val="tx1"/>
                </a:solidFill>
              </a:rPr>
              <a:t>Hold a second one in another region and track a matched set of firms that were not invited, so the next review can see whether the event made a difference.</a:t>
            </a:r>
            <a:endParaRPr lang="en-US" sz="1400" dirty="0"/>
          </a:p>
        </p:txBody>
      </p:sp>
      <p:sp>
        <p:nvSpPr>
          <p:cNvPr id="9" name="Action card 2"/>
          <p:cNvSpPr/>
          <p:nvPr/>
        </p:nvSpPr>
        <p:spPr>
          <a:xfrm>
            <a:off x="4306824" y="1874520"/>
            <a:ext cx="3547872" cy="2788920"/>
          </a:xfrm>
          <a:prstGeom prst="roundRect">
            <a:avLst>
              <a:gd name="adj" fmla="val 2623"/>
            </a:avLst>
          </a:prstGeom>
          <a:solidFill>
            <a:schemeClr val="bg2"/>
          </a:solidFill>
          <a:ln w="12700">
            <a:solidFill>
              <a:schemeClr val="bg2"/>
            </a:solidFill>
            <a:prstDash val="solid"/>
          </a:ln>
        </p:spPr>
      </p:sp>
      <p:sp>
        <p:nvSpPr>
          <p:cNvPr id="10" name="Action icon circle 2"/>
          <p:cNvSpPr/>
          <p:nvPr/>
        </p:nvSpPr>
        <p:spPr>
          <a:xfrm>
            <a:off x="4535424" y="2103120"/>
            <a:ext cx="685800" cy="685800"/>
          </a:xfrm>
          <a:prstGeom prst="ellipse">
            <a:avLst/>
          </a:prstGeom>
          <a:solidFill>
            <a:srgbClr val="25897A"/>
          </a:solidFill>
          <a:ln w="12700">
            <a:solidFill>
              <a:srgbClr val="25897A"/>
            </a:solidFill>
            <a:prstDash val="solid"/>
          </a:ln>
        </p:spPr>
      </p:sp>
      <p:pic>
        <p:nvPicPr>
          <p:cNvPr id="11" name="Action icon 2" descr="Review">    </p:cNvPr>
          <p:cNvPicPr>
            <a:picLocks noChangeAspect="1"/>
          </p:cNvPicPr>
          <p:nvPr/>
        </p:nvPicPr>
        <p:blipFill>
          <a:blip r:embed="rId2"/>
          <a:stretch>
            <a:fillRect/>
          </a:stretch>
        </p:blipFill>
        <p:spPr>
          <a:xfrm>
            <a:off x="4700016" y="2267712"/>
            <a:ext cx="356616" cy="356616"/>
          </a:xfrm>
          <a:prstGeom prst="rect">
            <a:avLst/>
          </a:prstGeom>
        </p:spPr>
      </p:pic>
      <p:sp>
        <p:nvSpPr>
          <p:cNvPr id="12" name="Action heading 2"/>
          <p:cNvSpPr txBox="1"/>
          <p:nvPr/>
        </p:nvSpPr>
        <p:spPr>
          <a:xfrm>
            <a:off x="4535424" y="2926080"/>
            <a:ext cx="3108960" cy="640080"/>
          </a:xfrm>
          <a:prstGeom prst="rect">
            <a:avLst/>
          </a:prstGeom>
          <a:noFill/>
          <a:ln/>
        </p:spPr>
        <p:txBody>
          <a:bodyPr wrap="square" lIns="0" tIns="0" rIns="0" bIns="0" rtlCol="0" anchor="t"/>
          <a:lstStyle/>
          <a:p>
            <a:pPr indent="0" marL="0">
              <a:buNone/>
            </a:pPr>
            <a:r>
              <a:rPr lang="en-US" sz="1800" b="1" dirty="0">
                <a:solidFill>
                  <a:schemeClr val="tx1"/>
                </a:solidFill>
              </a:rPr>
              <a:t>Review Berlin before renewing</a:t>
            </a:r>
            <a:endParaRPr lang="en-US" sz="1800" dirty="0"/>
          </a:p>
        </p:txBody>
      </p:sp>
      <p:sp>
        <p:nvSpPr>
          <p:cNvPr id="13" name="Action text 2"/>
          <p:cNvSpPr txBox="1"/>
          <p:nvPr/>
        </p:nvSpPr>
        <p:spPr>
          <a:xfrm>
            <a:off x="4535424" y="3566160"/>
            <a:ext cx="3108960" cy="1005840"/>
          </a:xfrm>
          <a:prstGeom prst="rect">
            <a:avLst/>
          </a:prstGeom>
          <a:noFill/>
          <a:ln/>
        </p:spPr>
        <p:txBody>
          <a:bodyPr wrap="square" lIns="0" tIns="0" rIns="0" bIns="0" rtlCol="0" anchor="t"/>
          <a:lstStyle/>
          <a:p>
            <a:pPr indent="0" marL="0">
              <a:buNone/>
            </a:pPr>
            <a:r>
              <a:rPr lang="en-US" sz="1400" dirty="0">
                <a:solidFill>
                  <a:schemeClr val="tx1"/>
                </a:solidFill>
              </a:rPr>
              <a:t>It cost $610K and 42% of attending firms had no follow-up. Set a two-week follow-up target for every attending firm.</a:t>
            </a:r>
            <a:endParaRPr lang="en-US" sz="1400" dirty="0"/>
          </a:p>
        </p:txBody>
      </p:sp>
      <p:sp>
        <p:nvSpPr>
          <p:cNvPr id="14" name="Action card 3"/>
          <p:cNvSpPr/>
          <p:nvPr/>
        </p:nvSpPr>
        <p:spPr>
          <a:xfrm>
            <a:off x="8065008" y="1874520"/>
            <a:ext cx="3547872" cy="2788920"/>
          </a:xfrm>
          <a:prstGeom prst="roundRect">
            <a:avLst>
              <a:gd name="adj" fmla="val 2623"/>
            </a:avLst>
          </a:prstGeom>
          <a:solidFill>
            <a:schemeClr val="bg2"/>
          </a:solidFill>
          <a:ln w="12700">
            <a:solidFill>
              <a:schemeClr val="bg2"/>
            </a:solidFill>
            <a:prstDash val="solid"/>
          </a:ln>
        </p:spPr>
      </p:sp>
      <p:sp>
        <p:nvSpPr>
          <p:cNvPr id="15" name="Action icon circle 3"/>
          <p:cNvSpPr/>
          <p:nvPr/>
        </p:nvSpPr>
        <p:spPr>
          <a:xfrm>
            <a:off x="8293608" y="2103120"/>
            <a:ext cx="685800" cy="685800"/>
          </a:xfrm>
          <a:prstGeom prst="ellipse">
            <a:avLst/>
          </a:prstGeom>
          <a:solidFill>
            <a:srgbClr val="1D4F7A"/>
          </a:solidFill>
          <a:ln w="12700">
            <a:solidFill>
              <a:srgbClr val="1D4F7A"/>
            </a:solidFill>
            <a:prstDash val="solid"/>
          </a:ln>
        </p:spPr>
      </p:sp>
      <p:pic>
        <p:nvPicPr>
          <p:cNvPr id="16" name="Action icon 3" descr="Tagging">    </p:cNvPr>
          <p:cNvPicPr>
            <a:picLocks noChangeAspect="1"/>
          </p:cNvPicPr>
          <p:nvPr/>
        </p:nvPicPr>
        <p:blipFill>
          <a:blip r:embed="rId3"/>
          <a:stretch>
            <a:fillRect/>
          </a:stretch>
        </p:blipFill>
        <p:spPr>
          <a:xfrm>
            <a:off x="8458200" y="2267712"/>
            <a:ext cx="356616" cy="356616"/>
          </a:xfrm>
          <a:prstGeom prst="rect">
            <a:avLst/>
          </a:prstGeom>
        </p:spPr>
      </p:pic>
      <p:sp>
        <p:nvSpPr>
          <p:cNvPr id="17" name="Action heading 3"/>
          <p:cNvSpPr txBox="1"/>
          <p:nvPr/>
        </p:nvSpPr>
        <p:spPr>
          <a:xfrm>
            <a:off x="8293608" y="2926080"/>
            <a:ext cx="3108960" cy="640080"/>
          </a:xfrm>
          <a:prstGeom prst="rect">
            <a:avLst/>
          </a:prstGeom>
          <a:noFill/>
          <a:ln/>
        </p:spPr>
        <p:txBody>
          <a:bodyPr wrap="square" lIns="0" tIns="0" rIns="0" bIns="0" rtlCol="0" anchor="t"/>
          <a:lstStyle/>
          <a:p>
            <a:pPr indent="0" marL="0">
              <a:buNone/>
            </a:pPr>
            <a:r>
              <a:rPr lang="en-US" sz="1800" b="1" dirty="0">
                <a:solidFill>
                  <a:schemeClr val="tx1"/>
                </a:solidFill>
              </a:rPr>
              <a:t>Record events so they can be measured</a:t>
            </a:r>
            <a:endParaRPr lang="en-US" sz="1800" dirty="0"/>
          </a:p>
        </p:txBody>
      </p:sp>
      <p:sp>
        <p:nvSpPr>
          <p:cNvPr id="18" name="Action text 3"/>
          <p:cNvSpPr txBox="1"/>
          <p:nvPr/>
        </p:nvSpPr>
        <p:spPr>
          <a:xfrm>
            <a:off x="8293608" y="3566160"/>
            <a:ext cx="3108960" cy="1005840"/>
          </a:xfrm>
          <a:prstGeom prst="rect">
            <a:avLst/>
          </a:prstGeom>
          <a:noFill/>
          <a:ln/>
        </p:spPr>
        <p:txBody>
          <a:bodyPr wrap="square" lIns="0" tIns="0" rIns="0" bIns="0" rtlCol="0" anchor="t"/>
          <a:lstStyle/>
          <a:p>
            <a:pPr indent="0" marL="0">
              <a:buNone/>
            </a:pPr>
            <a:r>
              <a:rPr lang="en-US" sz="1400" dirty="0">
                <a:solidFill>
                  <a:schemeClr val="tx1"/>
                </a:solidFill>
              </a:rPr>
              <a:t>Tag each meeting and opportunity with the event that sourced it, confirm who actually attended, and remove duplicate records.</a:t>
            </a:r>
            <a:endParaRPr lang="en-US" sz="1400" dirty="0"/>
          </a:p>
        </p:txBody>
      </p:sp>
      <p:sp>
        <p:nvSpPr>
          <p:cNvPr id="19" name="Targets heading"/>
          <p:cNvSpPr txBox="1"/>
          <p:nvPr/>
        </p:nvSpPr>
        <p:spPr>
          <a:xfrm>
            <a:off x="548640" y="4892040"/>
            <a:ext cx="11091672" cy="365760"/>
          </a:xfrm>
          <a:prstGeom prst="rect">
            <a:avLst/>
          </a:prstGeom>
          <a:noFill/>
          <a:ln/>
        </p:spPr>
        <p:txBody>
          <a:bodyPr wrap="square" lIns="0" tIns="0" rIns="0" bIns="0" rtlCol="0" anchor="ctr"/>
          <a:lstStyle/>
          <a:p>
            <a:pPr indent="0" marL="0">
              <a:buNone/>
            </a:pPr>
            <a:r>
              <a:rPr lang="en-US" sz="1800" b="1" dirty="0">
                <a:solidFill>
                  <a:schemeClr val="tx2"/>
                </a:solidFill>
              </a:rPr>
              <a:t>At the next review, we should be able to show</a:t>
            </a:r>
            <a:endParaRPr lang="en-US" sz="1800" dirty="0"/>
          </a:p>
        </p:txBody>
      </p:sp>
      <p:pic>
        <p:nvPicPr>
          <p:cNvPr id="20" name="Target check 1" descr="Check">    </p:cNvPr>
          <p:cNvPicPr>
            <a:picLocks noChangeAspect="1"/>
          </p:cNvPicPr>
          <p:nvPr/>
        </p:nvPicPr>
        <p:blipFill>
          <a:blip r:embed="rId4"/>
          <a:stretch>
            <a:fillRect/>
          </a:stretch>
        </p:blipFill>
        <p:spPr>
          <a:xfrm>
            <a:off x="548640" y="5440680"/>
            <a:ext cx="274320" cy="274320"/>
          </a:xfrm>
          <a:prstGeom prst="rect">
            <a:avLst/>
          </a:prstGeom>
        </p:spPr>
      </p:pic>
      <p:sp>
        <p:nvSpPr>
          <p:cNvPr id="21" name="Target 1"/>
          <p:cNvSpPr txBox="1"/>
          <p:nvPr/>
        </p:nvSpPr>
        <p:spPr>
          <a:xfrm>
            <a:off x="932688" y="5376672"/>
            <a:ext cx="3154680" cy="548640"/>
          </a:xfrm>
          <a:prstGeom prst="rect">
            <a:avLst/>
          </a:prstGeom>
          <a:noFill/>
          <a:ln/>
        </p:spPr>
        <p:txBody>
          <a:bodyPr wrap="square" lIns="0" tIns="0" rIns="0" bIns="0" rtlCol="0" anchor="t"/>
          <a:lstStyle/>
          <a:p>
            <a:pPr indent="0" marL="0">
              <a:buNone/>
            </a:pPr>
            <a:r>
              <a:rPr lang="en-US" sz="1400" dirty="0">
                <a:solidFill>
                  <a:schemeClr val="tx1"/>
                </a:solidFill>
              </a:rPr>
              <a:t>Every attending firm met within 14 days</a:t>
            </a:r>
            <a:endParaRPr lang="en-US" sz="1400" dirty="0"/>
          </a:p>
        </p:txBody>
      </p:sp>
      <p:pic>
        <p:nvPicPr>
          <p:cNvPr id="22" name="Target check 2" descr="Check">    </p:cNvPr>
          <p:cNvPicPr>
            <a:picLocks noChangeAspect="1"/>
          </p:cNvPicPr>
          <p:nvPr/>
        </p:nvPicPr>
        <p:blipFill>
          <a:blip r:embed="rId5"/>
          <a:stretch>
            <a:fillRect/>
          </a:stretch>
        </p:blipFill>
        <p:spPr>
          <a:xfrm>
            <a:off x="4306824" y="5440680"/>
            <a:ext cx="274320" cy="274320"/>
          </a:xfrm>
          <a:prstGeom prst="rect">
            <a:avLst/>
          </a:prstGeom>
        </p:spPr>
      </p:pic>
      <p:sp>
        <p:nvSpPr>
          <p:cNvPr id="23" name="Target 2"/>
          <p:cNvSpPr txBox="1"/>
          <p:nvPr/>
        </p:nvSpPr>
        <p:spPr>
          <a:xfrm>
            <a:off x="4690872" y="5376672"/>
            <a:ext cx="3154680" cy="548640"/>
          </a:xfrm>
          <a:prstGeom prst="rect">
            <a:avLst/>
          </a:prstGeom>
          <a:noFill/>
          <a:ln/>
        </p:spPr>
        <p:txBody>
          <a:bodyPr wrap="square" lIns="0" tIns="0" rIns="0" bIns="0" rtlCol="0" anchor="t"/>
          <a:lstStyle/>
          <a:p>
            <a:pPr indent="0" marL="0">
              <a:buNone/>
            </a:pPr>
            <a:r>
              <a:rPr lang="en-US" sz="1400" dirty="0">
                <a:solidFill>
                  <a:schemeClr val="tx1"/>
                </a:solidFill>
              </a:rPr>
              <a:t>A matched group of uninvited firms to compare against</a:t>
            </a:r>
            <a:endParaRPr lang="en-US" sz="1400" dirty="0"/>
          </a:p>
        </p:txBody>
      </p:sp>
      <p:pic>
        <p:nvPicPr>
          <p:cNvPr id="24" name="Target check 3" descr="Check">    </p:cNvPr>
          <p:cNvPicPr>
            <a:picLocks noChangeAspect="1"/>
          </p:cNvPicPr>
          <p:nvPr/>
        </p:nvPicPr>
        <p:blipFill>
          <a:blip r:embed="rId6"/>
          <a:stretch>
            <a:fillRect/>
          </a:stretch>
        </p:blipFill>
        <p:spPr>
          <a:xfrm>
            <a:off x="8065008" y="5440680"/>
            <a:ext cx="274320" cy="274320"/>
          </a:xfrm>
          <a:prstGeom prst="rect">
            <a:avLst/>
          </a:prstGeom>
        </p:spPr>
      </p:pic>
      <p:sp>
        <p:nvSpPr>
          <p:cNvPr id="25" name="Target 3"/>
          <p:cNvSpPr txBox="1"/>
          <p:nvPr/>
        </p:nvSpPr>
        <p:spPr>
          <a:xfrm>
            <a:off x="8449056" y="5376672"/>
            <a:ext cx="3154680" cy="548640"/>
          </a:xfrm>
          <a:prstGeom prst="rect">
            <a:avLst/>
          </a:prstGeom>
          <a:noFill/>
          <a:ln/>
        </p:spPr>
        <p:txBody>
          <a:bodyPr wrap="square" lIns="0" tIns="0" rIns="0" bIns="0" rtlCol="0" anchor="t"/>
          <a:lstStyle/>
          <a:p>
            <a:pPr indent="0" marL="0">
              <a:buNone/>
            </a:pPr>
            <a:r>
              <a:rPr lang="en-US" sz="1400" dirty="0">
                <a:solidFill>
                  <a:schemeClr val="tx1"/>
                </a:solidFill>
              </a:rPr>
              <a:t>Every opportunity tagged with the event that sourced it</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776"/>
                </a:solidFill>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Office Theme">
  <a:themeElements>
    <a:clrScheme name="IR Event Review">
      <a:dk1>
        <a:srgbClr val="15202B"/>
      </a:dk1>
      <a:lt1>
        <a:srgbClr val="FFFFFF"/>
      </a:lt1>
      <a:dk2>
        <a:srgbClr val="1D4F7A"/>
      </a:dk2>
      <a:lt2>
        <a:srgbClr val="F3F5F7"/>
      </a:lt2>
      <a:accent1>
        <a:srgbClr val="2F6DB5"/>
      </a:accent1>
      <a:accent2>
        <a:srgbClr val="B8761A"/>
      </a:accent2>
      <a:accent3>
        <a:srgbClr val="25897A"/>
      </a:accent3>
      <a:accent4>
        <a:srgbClr val="8A96A3"/>
      </a:accent4>
      <a:accent5>
        <a:srgbClr val="2B7A4B"/>
      </a:accent5>
      <a:accent6>
        <a:srgbClr val="B0372E"/>
      </a:accent6>
      <a:hlink>
        <a:srgbClr val="1D4F7A"/>
      </a:hlink>
      <a:folHlink>
        <a:srgbClr val="5A6776"/>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IR Event Readout</dc:title>
  <dc:subject>Executive readout: 2026 investor events</dc:subject>
  <dc:creator>Investor Relations analytics</dc:creator>
  <cp:lastModifiedBy>Investor Relations analytics</cp:lastModifiedBy>
  <cp:revision>1</cp:revision>
  <dcterms:created xsi:type="dcterms:W3CDTF">2026-10-26T00:00:00Z</dcterms:created>
  <dcterms:modified xsi:type="dcterms:W3CDTF">2026-10-26T00:00:00Z</dcterms:modified>
</cp:coreProperties>
</file>